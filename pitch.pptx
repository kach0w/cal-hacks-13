
<file path=[Content_Types].xml><?xml version="1.0" encoding="utf-8"?>
<Types xmlns="http://schemas.openxmlformats.org/package/2006/content-types">
  <Default Extension="fntdata" ContentType="application/x-fontdata"/>
  <Default Extension="jpe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Fraunces" pitchFamily="2" charset="77"/>
      <p:regular r:id="rId11"/>
      <p:bold r:id="rId12"/>
      <p:italic r:id="rId13"/>
      <p:boldItalic r:id="rId14"/>
    </p:embeddedFont>
    <p:embeddedFont>
      <p:font typeface="Inter" panose="02000503000000020004" pitchFamily="2"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224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person, not the tech. One sentence: a camera that remembers where things are, and a band that guides you to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"When you forget where you put something, you try to recall it. With Alzheimer's, that isn't easy. That's why we built Recall." 7.4M (about 1 in 9 over 65): Alzheimer's Association 2026. 4.3M+: UCSF (Portacolone), people 55+ with dementia or cognitive impairment who live alone. She puts her keys down and has no memory of it. She lives alone, or her caregiver wasn't in the room. There's no one to ask, and by the fourth time she's sure someone took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Ask: tap the band's button and speak; a voice agent turns it into text. 2 Look it up: Recall checks its memory (state.json) and the agent speaks the answer, same words every time: "On the sofa." 3 Measure: the camera tracks where you are relative to the remote and how far away it is. 4 Buzz: that's streamed to the band many times a second; it buzzes faster as you close in and gives a distinct pulse when you've found it. If it's only a guess (inferred), the buzz is gentler.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Camera → memory → voice agent → band. Detection runs locally; no video leaves the house.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Trackers: too expensive to tag everything, and you can't tag your glasses. Recall needs no tags, just one camera. Cameras: large video files someone has to scrub through in 2D; Recall lets you query the room in 3D instantly. AI assistants: vague answers you have to remember; Recall guides you to exactly where it 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3D: a regular detector like YOLO only gives a box in a flat picture. It can't tell how far away something is, which surface it's sitting on, or how far your hand is from it; two things that look side by side in the image can be metres apart. So we scan the room once and put the camera inside that 3D model: every detection becomes a real position in metres, which is what lets the band guide you. Step 2: each marker is found in the scan and pinned to the model; the floor becomes y = 0 and the walls give the X and Z axes, so every point in the room has coordinates in meters. Step 3: the camera sees the same markers that are pinned in the 3D model, so it works out exactly where it sits in that model and which way it's looking. From then on, every pixel it sees maps to a real spot in the room. The care partner does this once; it's never her job. Markers stay up, so a bumped camera just re-registers in seconds. Objects move freely afterwards; only moved furniture needs a rescan. Accuracy: roughly 5–8 cm on the floor with 3 markers in view.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YOLO-World spots each object by name; the 3D model says which surface it's on. Memory is plain JSON: state.json holds what's where right now and is rewritten atomically, so a crash never corrupts it. events.jsonl is append-only, one line per change (appeared, moved, disappeared, inferred), which powers "what changed today" and history. Every entry points at the photo behind it. It survives restarts and objects leaving and coming back into frame.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an ESP32 on a breadboard with a servo, a microphone module and a battery pack. Deliberately dumb, about $10: the room does the thinking. It points the way and buzzes faster as your hand closes in, so there's nothing to remember, just follow it. An inferred answer never buzzes as hard as an observed one. Hand it over, don't describe it: strap it on the judge, stop talking, and let them find it by feel. Double-pulse on found.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517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04095" y="2512993"/>
            <a:ext cx="5180677" cy="1650980"/>
          </a:xfrm>
          <a:prstGeom prst="rect">
            <a:avLst/>
          </a:prstGeom>
          <a:noFill/>
          <a:ln/>
        </p:spPr>
        <p:txBody>
          <a:bodyPr wrap="square" lIns="0" tIns="0" rIns="0" bIns="0" rtlCol="0" anchor="t"/>
          <a:lstStyle>
            <a:lvl1pPr marL="0" indent="0" algn="l">
              <a:lnSpc>
                <a:spcPct val="110000"/>
              </a:lnSpc>
              <a:buNone/>
              <a:defRPr lang="en-US" sz="13000" dirty="0">
                <a:solidFill>
                  <a:srgbClr val="F5F1EA"/>
                </a:solidFill>
                <a:latin typeface="Fraunces" pitchFamily="34" charset="0"/>
                <a:ea typeface="Fraunces" pitchFamily="34" charset="-122"/>
                <a:cs typeface="Fraunces" pitchFamily="34" charset="-120"/>
              </a:defRPr>
            </a:lvl1pPr>
          </a:lstStyle>
          <a:p>
            <a:pPr marL="0" indent="0" algn="l">
              <a:lnSpc>
                <a:spcPct val="110000"/>
              </a:lnSpc>
              <a:buNone/>
            </a:pPr>
            <a:endParaRPr lang="en-US" sz="13000" dirty="0"/>
          </a:p>
        </p:txBody>
      </p:sp>
      <p:sp>
        <p:nvSpPr>
          <p:cNvPr id="3" name="Text Placeholder 2"/>
          <p:cNvSpPr>
            <a:spLocks noGrp="1"/>
          </p:cNvSpPr>
          <p:nvPr>
            <p:ph type="body" idx="101"/>
          </p:nvPr>
        </p:nvSpPr>
        <p:spPr>
          <a:xfrm>
            <a:off x="1804095" y="4468773"/>
            <a:ext cx="9575105" cy="1576427"/>
          </a:xfrm>
          <a:prstGeom prst="rect">
            <a:avLst/>
          </a:prstGeom>
          <a:noFill/>
          <a:ln/>
        </p:spPr>
        <p:txBody>
          <a:bodyPr wrap="square" lIns="0" tIns="0" rIns="0" bIns="0" rtlCol="0" anchor="t"/>
          <a:lstStyle>
            <a:lvl1pPr marL="0" indent="0" algn="l">
              <a:lnSpc>
                <a:spcPct val="140000"/>
              </a:lnSpc>
              <a:buNone/>
              <a:defRPr lang="en-US" sz="1600" dirty="0">
                <a:solidFill>
                  <a:srgbClr val="E07A3F"/>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517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04095" y="2512993"/>
            <a:ext cx="5180677" cy="1650980"/>
          </a:xfrm>
          <a:prstGeom prst="rect">
            <a:avLst/>
          </a:prstGeom>
          <a:noFill/>
          <a:ln/>
        </p:spPr>
        <p:txBody>
          <a:bodyPr wrap="square" lIns="0" tIns="0" rIns="0" bIns="0" rtlCol="0" anchor="t"/>
          <a:lstStyle>
            <a:lvl1pPr marL="0" indent="0" algn="l">
              <a:lnSpc>
                <a:spcPct val="110000"/>
              </a:lnSpc>
              <a:buNone/>
              <a:defRPr lang="en-US" sz="13000" dirty="0">
                <a:solidFill>
                  <a:srgbClr val="F5F1EA"/>
                </a:solidFill>
                <a:latin typeface="Fraunces" pitchFamily="34" charset="0"/>
                <a:ea typeface="Fraunces" pitchFamily="34" charset="-122"/>
                <a:cs typeface="Fraunces" pitchFamily="34" charset="-120"/>
              </a:defRPr>
            </a:lvl1pPr>
          </a:lstStyle>
          <a:p>
            <a:pPr marL="0" indent="0" algn="l">
              <a:lnSpc>
                <a:spcPct val="110000"/>
              </a:lnSpc>
              <a:buNone/>
            </a:pPr>
            <a:endParaRPr lang="en-US" sz="13000" dirty="0"/>
          </a:p>
        </p:txBody>
      </p:sp>
      <p:sp>
        <p:nvSpPr>
          <p:cNvPr id="3" name="Text Placeholder 2"/>
          <p:cNvSpPr>
            <a:spLocks noGrp="1"/>
          </p:cNvSpPr>
          <p:nvPr>
            <p:ph type="body" idx="101"/>
          </p:nvPr>
        </p:nvSpPr>
        <p:spPr>
          <a:xfrm>
            <a:off x="1804095" y="4468773"/>
            <a:ext cx="9575105" cy="1576427"/>
          </a:xfrm>
          <a:prstGeom prst="rect">
            <a:avLst/>
          </a:prstGeom>
          <a:noFill/>
          <a:ln/>
        </p:spPr>
        <p:txBody>
          <a:bodyPr wrap="square" lIns="0" tIns="0" rIns="0" bIns="0" rtlCol="0" anchor="t"/>
          <a:lstStyle>
            <a:lvl1pPr marL="0" indent="0" algn="l">
              <a:lnSpc>
                <a:spcPct val="140000"/>
              </a:lnSpc>
              <a:buNone/>
              <a:defRPr lang="en-US" sz="1600" dirty="0">
                <a:solidFill>
                  <a:srgbClr val="E07A3F"/>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C"/>
        </a:solidFill>
        <a:effectLst/>
      </p:bgPr>
    </p:bg>
    <p:spTree>
      <p:nvGrpSpPr>
        <p:cNvPr id="1" name=""/>
        <p:cNvGrpSpPr/>
        <p:nvPr/>
      </p:nvGrpSpPr>
      <p:grpSpPr>
        <a:xfrm>
          <a:off x="0" y="0"/>
          <a:ext cx="0" cy="0"/>
          <a:chOff x="0" y="0"/>
          <a:chExt cx="0" cy="0"/>
        </a:xfrm>
      </p:grpSpPr>
      <p:sp>
        <p:nvSpPr>
          <p:cNvPr id="2" name="Text 0"/>
          <p:cNvSpPr/>
          <p:nvPr/>
        </p:nvSpPr>
        <p:spPr>
          <a:xfrm>
            <a:off x="812780" y="2006560"/>
            <a:ext cx="10883372" cy="27430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E07A3F"/>
                </a:solidFill>
                <a:latin typeface="Inter" pitchFamily="34" charset="0"/>
                <a:ea typeface="Inter" pitchFamily="34" charset="-122"/>
                <a:cs typeface="Inter" pitchFamily="34" charset="-120"/>
              </a:rPr>
              <a:t>CAL HACKS 13.0</a:t>
            </a:r>
            <a:endParaRPr lang="en-US" sz="1400" dirty="0"/>
          </a:p>
        </p:txBody>
      </p:sp>
      <p:sp>
        <p:nvSpPr>
          <p:cNvPr id="3" name="Text 1"/>
          <p:cNvSpPr>
            <a:spLocks noGrp="1"/>
          </p:cNvSpPr>
          <p:nvPr>
            <p:ph type="title"/>
          </p:nvPr>
        </p:nvSpPr>
        <p:spPr>
          <a:xfrm>
            <a:off x="812780" y="2613005"/>
            <a:ext cx="4014133" cy="1295380"/>
          </a:xfrm>
          <a:prstGeom prst="rect">
            <a:avLst/>
          </a:prstGeom>
          <a:noFill/>
          <a:ln/>
        </p:spPr>
        <p:txBody>
          <a:bodyPr wrap="square" lIns="0" tIns="0" rIns="0" bIns="0" rtlCol="0" anchor="t">
            <a:normAutofit/>
          </a:bodyPr>
          <a:lstStyle/>
          <a:p>
            <a:pPr marL="0" indent="0" algn="l">
              <a:lnSpc>
                <a:spcPts val="10000"/>
              </a:lnSpc>
              <a:buNone/>
            </a:pPr>
            <a:r>
              <a:rPr lang="en-US" sz="10000" b="0" i="0" dirty="0">
                <a:solidFill>
                  <a:srgbClr val="F5F1EA"/>
                </a:solidFill>
                <a:latin typeface="Fraunces" pitchFamily="18" charset="0"/>
                <a:ea typeface="Fraunces" pitchFamily="18" charset="-122"/>
                <a:cs typeface="Fraunces" pitchFamily="18" charset="-120"/>
              </a:rPr>
              <a:t>Recall</a:t>
            </a:r>
            <a:endParaRPr lang="en-US" sz="10000" dirty="0"/>
          </a:p>
        </p:txBody>
      </p:sp>
      <p:pic>
        <p:nvPicPr>
          <p:cNvPr id="4" name="Image 0" descr="Recall logo: a location pin with a brain inside"/>
          <p:cNvPicPr>
            <a:picLocks noChangeAspect="1"/>
          </p:cNvPicPr>
          <p:nvPr/>
        </p:nvPicPr>
        <p:blipFill>
          <a:blip r:embed="rId3"/>
          <a:srcRect l="-1716" r="-1716"/>
          <a:stretch/>
        </p:blipFill>
        <p:spPr>
          <a:xfrm>
            <a:off x="4826913" y="2508230"/>
            <a:ext cx="1530310" cy="1479530"/>
          </a:xfrm>
          <a:prstGeom prst="rect">
            <a:avLst/>
          </a:prstGeom>
        </p:spPr>
      </p:pic>
      <p:sp>
        <p:nvSpPr>
          <p:cNvPr id="5" name="Text 2"/>
          <p:cNvSpPr/>
          <p:nvPr/>
        </p:nvSpPr>
        <p:spPr>
          <a:xfrm>
            <a:off x="812780" y="4159210"/>
            <a:ext cx="10883372" cy="513080"/>
          </a:xfrm>
          <a:prstGeom prst="rect">
            <a:avLst/>
          </a:prstGeom>
          <a:noFill/>
          <a:ln/>
        </p:spPr>
        <p:txBody>
          <a:bodyPr wrap="square" lIns="0" tIns="0" rIns="0" bIns="0" rtlCol="0" anchor="t">
            <a:normAutofit/>
          </a:bodyPr>
          <a:lstStyle/>
          <a:p>
            <a:pPr marL="0" indent="0" algn="l">
              <a:lnSpc>
                <a:spcPts val="3840"/>
              </a:lnSpc>
              <a:buNone/>
            </a:pPr>
            <a:r>
              <a:rPr lang="en-US" sz="3200" i="1" dirty="0">
                <a:solidFill>
                  <a:srgbClr val="D9D3C8"/>
                </a:solidFill>
                <a:latin typeface="Fraunces" pitchFamily="18" charset="0"/>
                <a:ea typeface="Fraunces" pitchFamily="18" charset="-122"/>
                <a:cs typeface="Fraunces" pitchFamily="18" charset="-120"/>
              </a:rPr>
              <a:t>A room that remembers for you.</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171C"/>
        </a:solidFill>
        <a:effectLst/>
      </p:bgPr>
    </p:bg>
    <p:spTree>
      <p:nvGrpSpPr>
        <p:cNvPr id="1" name=""/>
        <p:cNvGrpSpPr/>
        <p:nvPr/>
      </p:nvGrpSpPr>
      <p:grpSpPr>
        <a:xfrm>
          <a:off x="0" y="0"/>
          <a:ext cx="0" cy="0"/>
          <a:chOff x="0" y="0"/>
          <a:chExt cx="0" cy="0"/>
        </a:xfrm>
      </p:grpSpPr>
      <p:sp>
        <p:nvSpPr>
          <p:cNvPr id="2" name="Text 0"/>
          <p:cNvSpPr/>
          <p:nvPr/>
        </p:nvSpPr>
        <p:spPr>
          <a:xfrm>
            <a:off x="812780" y="1833980"/>
            <a:ext cx="5063696" cy="939800"/>
          </a:xfrm>
          <a:prstGeom prst="rect">
            <a:avLst/>
          </a:prstGeom>
          <a:noFill/>
          <a:ln/>
        </p:spPr>
        <p:txBody>
          <a:bodyPr wrap="square" lIns="0" tIns="0" rIns="0" bIns="0" rtlCol="0" anchor="t">
            <a:normAutofit/>
          </a:bodyPr>
          <a:lstStyle/>
          <a:p>
            <a:pPr marL="0" indent="0" algn="l">
              <a:lnSpc>
                <a:spcPts val="7200"/>
              </a:lnSpc>
              <a:buNone/>
            </a:pPr>
            <a:r>
              <a:rPr lang="en-US" sz="7200" b="1" dirty="0">
                <a:solidFill>
                  <a:srgbClr val="E07A3F"/>
                </a:solidFill>
                <a:latin typeface="Inter" pitchFamily="34" charset="0"/>
                <a:ea typeface="Inter" pitchFamily="34" charset="-122"/>
                <a:cs typeface="Inter" pitchFamily="34" charset="-120"/>
              </a:rPr>
              <a:t>7.4M</a:t>
            </a:r>
            <a:endParaRPr lang="en-US" sz="7200" dirty="0"/>
          </a:p>
        </p:txBody>
      </p:sp>
      <p:sp>
        <p:nvSpPr>
          <p:cNvPr id="3" name="Text 1"/>
          <p:cNvSpPr/>
          <p:nvPr/>
        </p:nvSpPr>
        <p:spPr>
          <a:xfrm>
            <a:off x="812780" y="2849940"/>
            <a:ext cx="5063696"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CC4"/>
                </a:solidFill>
                <a:latin typeface="Inter" pitchFamily="34" charset="0"/>
                <a:ea typeface="Inter" pitchFamily="34" charset="-122"/>
                <a:cs typeface="Inter" pitchFamily="34" charset="-120"/>
              </a:rPr>
              <a:t>Americans 65+ with Alzheimer's</a:t>
            </a:r>
            <a:endParaRPr lang="en-US" sz="1600" dirty="0"/>
          </a:p>
        </p:txBody>
      </p:sp>
      <p:sp>
        <p:nvSpPr>
          <p:cNvPr id="4" name="Shape 2"/>
          <p:cNvSpPr/>
          <p:nvPr/>
        </p:nvSpPr>
        <p:spPr>
          <a:xfrm>
            <a:off x="6097270" y="1783200"/>
            <a:ext cx="0" cy="1401961"/>
          </a:xfrm>
          <a:prstGeom prst="line">
            <a:avLst/>
          </a:prstGeom>
          <a:noFill/>
          <a:ln w="25400">
            <a:solidFill>
              <a:srgbClr val="3A3E48"/>
            </a:solidFill>
            <a:prstDash val="solid"/>
          </a:ln>
        </p:spPr>
        <p:txBody>
          <a:bodyPr/>
          <a:lstStyle/>
          <a:p>
            <a:endParaRPr lang="en-US"/>
          </a:p>
        </p:txBody>
      </p:sp>
      <p:sp>
        <p:nvSpPr>
          <p:cNvPr id="5" name="Text 3"/>
          <p:cNvSpPr/>
          <p:nvPr/>
        </p:nvSpPr>
        <p:spPr>
          <a:xfrm>
            <a:off x="6463011" y="1833980"/>
            <a:ext cx="5063696" cy="939800"/>
          </a:xfrm>
          <a:prstGeom prst="rect">
            <a:avLst/>
          </a:prstGeom>
          <a:noFill/>
          <a:ln/>
        </p:spPr>
        <p:txBody>
          <a:bodyPr wrap="square" lIns="0" tIns="0" rIns="0" bIns="0" rtlCol="0" anchor="t">
            <a:normAutofit/>
          </a:bodyPr>
          <a:lstStyle/>
          <a:p>
            <a:pPr marL="0" indent="0" algn="l">
              <a:lnSpc>
                <a:spcPts val="7200"/>
              </a:lnSpc>
              <a:buNone/>
            </a:pPr>
            <a:r>
              <a:rPr lang="en-US" sz="7200" b="1" dirty="0">
                <a:solidFill>
                  <a:srgbClr val="E07A3F"/>
                </a:solidFill>
                <a:latin typeface="Inter" pitchFamily="34" charset="0"/>
                <a:ea typeface="Inter" pitchFamily="34" charset="-122"/>
                <a:cs typeface="Inter" pitchFamily="34" charset="-120"/>
              </a:rPr>
              <a:t>4.3M+</a:t>
            </a:r>
            <a:endParaRPr lang="en-US" sz="7200" dirty="0"/>
          </a:p>
        </p:txBody>
      </p:sp>
      <p:sp>
        <p:nvSpPr>
          <p:cNvPr id="6" name="Text 4"/>
          <p:cNvSpPr/>
          <p:nvPr/>
        </p:nvSpPr>
        <p:spPr>
          <a:xfrm>
            <a:off x="6463011" y="2849940"/>
            <a:ext cx="5063696"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CC4"/>
                </a:solidFill>
                <a:latin typeface="Inter" pitchFamily="34" charset="0"/>
                <a:ea typeface="Inter" pitchFamily="34" charset="-122"/>
                <a:cs typeface="Inter" pitchFamily="34" charset="-120"/>
              </a:rPr>
              <a:t>living alone with memory loss</a:t>
            </a:r>
            <a:endParaRPr lang="en-US" sz="1600" dirty="0"/>
          </a:p>
        </p:txBody>
      </p:sp>
      <p:sp>
        <p:nvSpPr>
          <p:cNvPr id="7" name="Text 5"/>
          <p:cNvSpPr/>
          <p:nvPr/>
        </p:nvSpPr>
        <p:spPr>
          <a:xfrm>
            <a:off x="812780" y="3794761"/>
            <a:ext cx="10883434" cy="45206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B9BCC4"/>
                </a:solidFill>
                <a:latin typeface="Fraunces" pitchFamily="18" charset="0"/>
                <a:ea typeface="Fraunces" pitchFamily="18" charset="-122"/>
                <a:cs typeface="Fraunces" pitchFamily="18" charset="-120"/>
              </a:rPr>
              <a:t>When we forget, we </a:t>
            </a:r>
            <a:r>
              <a:rPr lang="en-US" sz="2800" dirty="0">
                <a:solidFill>
                  <a:srgbClr val="E07A3F"/>
                </a:solidFill>
                <a:latin typeface="Fraunces" pitchFamily="18" charset="0"/>
                <a:ea typeface="Fraunces" pitchFamily="18" charset="-122"/>
                <a:cs typeface="Fraunces" pitchFamily="18" charset="-120"/>
              </a:rPr>
              <a:t>recall</a:t>
            </a:r>
            <a:r>
              <a:rPr lang="en-US" sz="2800" dirty="0">
                <a:solidFill>
                  <a:srgbClr val="B9BCC4"/>
                </a:solidFill>
                <a:latin typeface="Fraunces" pitchFamily="18" charset="0"/>
                <a:ea typeface="Fraunces" pitchFamily="18" charset="-122"/>
                <a:cs typeface="Fraunces" pitchFamily="18" charset="-120"/>
              </a:rPr>
              <a:t>.</a:t>
            </a:r>
            <a:endParaRPr lang="en-US" sz="2800" dirty="0"/>
          </a:p>
        </p:txBody>
      </p:sp>
      <p:sp>
        <p:nvSpPr>
          <p:cNvPr id="8" name="Text 6"/>
          <p:cNvSpPr/>
          <p:nvPr/>
        </p:nvSpPr>
        <p:spPr>
          <a:xfrm>
            <a:off x="812780" y="4322981"/>
            <a:ext cx="11379220" cy="574040"/>
          </a:xfrm>
          <a:prstGeom prst="rect">
            <a:avLst/>
          </a:prstGeom>
          <a:noFill/>
          <a:ln/>
        </p:spPr>
        <p:txBody>
          <a:bodyPr wrap="square" lIns="0" tIns="0" rIns="0" bIns="0" rtlCol="0" anchor="t">
            <a:normAutofit/>
          </a:bodyPr>
          <a:lstStyle/>
          <a:p>
            <a:pPr marL="0" indent="0" algn="l">
              <a:lnSpc>
                <a:spcPts val="4320"/>
              </a:lnSpc>
              <a:buNone/>
            </a:pPr>
            <a:r>
              <a:rPr lang="en-US" sz="3600" dirty="0">
                <a:solidFill>
                  <a:srgbClr val="F5F1EA"/>
                </a:solidFill>
                <a:latin typeface="Fraunces" pitchFamily="18" charset="0"/>
                <a:ea typeface="Fraunces" pitchFamily="18" charset="-122"/>
                <a:cs typeface="Fraunces" pitchFamily="18" charset="-120"/>
              </a:rPr>
              <a:t>With Alzheimer's, </a:t>
            </a:r>
            <a:r>
              <a:rPr lang="en-US" sz="3600" dirty="0">
                <a:solidFill>
                  <a:srgbClr val="E07A3F"/>
                </a:solidFill>
                <a:latin typeface="Fraunces" pitchFamily="18" charset="0"/>
                <a:ea typeface="Fraunces" pitchFamily="18" charset="-122"/>
                <a:cs typeface="Fraunces" pitchFamily="18" charset="-120"/>
              </a:rPr>
              <a:t>once forgotten stays forgotten.</a:t>
            </a:r>
            <a:endParaRPr lang="en-US" sz="3600" dirty="0"/>
          </a:p>
        </p:txBody>
      </p:sp>
      <p:sp>
        <p:nvSpPr>
          <p:cNvPr id="9" name="Text 7"/>
          <p:cNvSpPr/>
          <p:nvPr/>
        </p:nvSpPr>
        <p:spPr>
          <a:xfrm>
            <a:off x="812780" y="6238280"/>
            <a:ext cx="1088337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9099"/>
                </a:solidFill>
                <a:latin typeface="Inter" pitchFamily="34" charset="0"/>
                <a:ea typeface="Inter" pitchFamily="34" charset="-122"/>
                <a:cs typeface="Inter" pitchFamily="34" charset="-120"/>
              </a:rPr>
              <a:t>Sources: Alzheimer's Association 2026 · UCSF Living Alone with Cognitive Impairment Project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0" y="1568411"/>
            <a:ext cx="10883372" cy="58416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15171C"/>
                </a:solidFill>
                <a:latin typeface="Inter" pitchFamily="34" charset="0"/>
                <a:ea typeface="Inter" pitchFamily="34" charset="-122"/>
                <a:cs typeface="Inter" pitchFamily="34" charset="-120"/>
              </a:rPr>
              <a:t>From a question to a direction</a:t>
            </a:r>
            <a:endParaRPr lang="en-US" sz="4000" dirty="0"/>
          </a:p>
        </p:txBody>
      </p:sp>
      <p:sp>
        <p:nvSpPr>
          <p:cNvPr id="3" name="Text 1"/>
          <p:cNvSpPr/>
          <p:nvPr/>
        </p:nvSpPr>
        <p:spPr>
          <a:xfrm>
            <a:off x="856714" y="2893101"/>
            <a:ext cx="2325112" cy="538401"/>
          </a:xfrm>
          <a:prstGeom prst="roundRect">
            <a:avLst>
              <a:gd name="adj" fmla="val 28306"/>
            </a:avLst>
          </a:prstGeom>
          <a:solidFill>
            <a:srgbClr val="FFFFFF"/>
          </a:solidFill>
          <a:ln/>
          <a:effectLst>
            <a:outerShdw blurRad="76200" dist="25400" dir="5400000" algn="bl" rotWithShape="0">
              <a:srgbClr val="15171C">
                <a:alpha val="12000"/>
              </a:srgbClr>
            </a:outerShdw>
          </a:effectLst>
        </p:spPr>
        <p:txBody>
          <a:bodyPr wrap="none" lIns="0" tIns="0" rIns="0" bIns="0" rtlCol="0" anchor="ctr">
            <a:normAutofit/>
          </a:bodyPr>
          <a:lstStyle/>
          <a:p>
            <a:pPr marL="0" indent="0" algn="ctr">
              <a:lnSpc>
                <a:spcPts val="2240"/>
              </a:lnSpc>
              <a:buNone/>
            </a:pPr>
            <a:r>
              <a:rPr lang="en-US" sz="1600" i="1" dirty="0">
                <a:solidFill>
                  <a:srgbClr val="15171C"/>
                </a:solidFill>
                <a:latin typeface="Fraunces" pitchFamily="18" charset="0"/>
                <a:ea typeface="Fraunces" pitchFamily="18" charset="-122"/>
                <a:cs typeface="Fraunces" pitchFamily="18" charset="-120"/>
              </a:rPr>
              <a:t>"Where's the remote?"</a:t>
            </a:r>
            <a:endParaRPr lang="en-US" sz="1600" dirty="0"/>
          </a:p>
        </p:txBody>
      </p:sp>
      <p:pic>
        <p:nvPicPr>
          <p:cNvPr id="4" name="Image 0" descr="Microphone with sound waves"/>
          <p:cNvPicPr>
            <a:picLocks noChangeAspect="1"/>
          </p:cNvPicPr>
          <p:nvPr/>
        </p:nvPicPr>
        <p:blipFill>
          <a:blip r:embed="rId3"/>
          <a:srcRect t="-1" b="-1"/>
          <a:stretch/>
        </p:blipFill>
        <p:spPr>
          <a:xfrm>
            <a:off x="1320760" y="3609262"/>
            <a:ext cx="1396960" cy="571500"/>
          </a:xfrm>
          <a:prstGeom prst="rect">
            <a:avLst/>
          </a:prstGeom>
        </p:spPr>
      </p:pic>
      <p:sp>
        <p:nvSpPr>
          <p:cNvPr id="5" name="Text 2"/>
          <p:cNvSpPr/>
          <p:nvPr/>
        </p:nvSpPr>
        <p:spPr>
          <a:xfrm>
            <a:off x="812780" y="4616411"/>
            <a:ext cx="2485370"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B8551F"/>
                </a:solidFill>
                <a:latin typeface="Courier New" pitchFamily="49" charset="0"/>
                <a:ea typeface="Courier New" pitchFamily="49" charset="-122"/>
                <a:cs typeface="Courier New" pitchFamily="49" charset="-120"/>
              </a:rPr>
              <a:t>STEP 01</a:t>
            </a:r>
            <a:endParaRPr lang="en-US" sz="1200" dirty="0"/>
          </a:p>
        </p:txBody>
      </p:sp>
      <p:sp>
        <p:nvSpPr>
          <p:cNvPr id="6" name="Text 3"/>
          <p:cNvSpPr/>
          <p:nvPr/>
        </p:nvSpPr>
        <p:spPr>
          <a:xfrm>
            <a:off x="812780" y="4956752"/>
            <a:ext cx="2485370" cy="36062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5171C"/>
                </a:solidFill>
                <a:latin typeface="Inter" pitchFamily="34" charset="0"/>
                <a:ea typeface="Inter" pitchFamily="34" charset="-122"/>
                <a:cs typeface="Inter" pitchFamily="34" charset="-120"/>
              </a:rPr>
              <a:t>Ask</a:t>
            </a:r>
            <a:endParaRPr lang="en-US" sz="2200" dirty="0"/>
          </a:p>
        </p:txBody>
      </p:sp>
      <p:sp>
        <p:nvSpPr>
          <p:cNvPr id="7" name="Text 4"/>
          <p:cNvSpPr/>
          <p:nvPr/>
        </p:nvSpPr>
        <p:spPr>
          <a:xfrm>
            <a:off x="3530560" y="2584431"/>
            <a:ext cx="2413040" cy="1905000"/>
          </a:xfrm>
          <a:prstGeom prst="roundRect">
            <a:avLst>
              <a:gd name="adj" fmla="val 4000"/>
            </a:avLst>
          </a:prstGeom>
          <a:solidFill>
            <a:srgbClr val="15171C"/>
          </a:solidFill>
          <a:ln/>
        </p:spPr>
        <p:txBody>
          <a:bodyPr wrap="square" lIns="206282" tIns="168162" rIns="147607" bIns="168162" rtlCol="0" anchor="ctr">
            <a:normAutofit/>
          </a:bodyPr>
          <a:lstStyle/>
          <a:p>
            <a:pPr marL="0" indent="0" algn="l">
              <a:lnSpc>
                <a:spcPts val="1970"/>
              </a:lnSpc>
              <a:buNone/>
            </a:pPr>
            <a:r>
              <a:rPr lang="en-US" sz="1231" dirty="0">
                <a:solidFill>
                  <a:srgbClr val="8D9099"/>
                </a:solidFill>
                <a:latin typeface="Courier New" pitchFamily="49" charset="0"/>
                <a:ea typeface="Courier New" pitchFamily="49" charset="-122"/>
                <a:cs typeface="Courier New" pitchFamily="49" charset="-120"/>
              </a:rPr>
              <a:t>// state.json</a:t>
            </a:r>
            <a:endParaRPr lang="en-US" sz="1231" dirty="0"/>
          </a:p>
          <a:p>
            <a:pPr marL="0" indent="0" algn="l">
              <a:lnSpc>
                <a:spcPts val="1970"/>
              </a:lnSpc>
              <a:buNone/>
            </a:pPr>
            <a:r>
              <a:rPr lang="en-US" sz="1231" dirty="0">
                <a:solidFill>
                  <a:srgbClr val="E07A3F"/>
                </a:solidFill>
                <a:latin typeface="Courier New" pitchFamily="49" charset="0"/>
                <a:ea typeface="Courier New" pitchFamily="49" charset="-122"/>
                <a:cs typeface="Courier New" pitchFamily="49" charset="-120"/>
              </a:rPr>
              <a:t>"remote"</a:t>
            </a:r>
            <a:r>
              <a:rPr lang="en-US" sz="1231" dirty="0">
                <a:solidFill>
                  <a:srgbClr val="F5F1EA"/>
                </a:solidFill>
                <a:latin typeface="Courier New" pitchFamily="49" charset="0"/>
                <a:ea typeface="Courier New" pitchFamily="49" charset="-122"/>
                <a:cs typeface="Courier New" pitchFamily="49" charset="-120"/>
              </a:rPr>
              <a:t>: {</a:t>
            </a:r>
            <a:endParaRPr lang="en-US" sz="1231" dirty="0"/>
          </a:p>
          <a:p>
            <a:pPr marL="0" indent="0" algn="l">
              <a:lnSpc>
                <a:spcPts val="1970"/>
              </a:lnSpc>
              <a:buNone/>
            </a:pPr>
            <a:r>
              <a:rPr lang="en-US" sz="1231" dirty="0">
                <a:solidFill>
                  <a:srgbClr val="F5F1EA"/>
                </a:solidFill>
                <a:latin typeface="Courier New" pitchFamily="49" charset="0"/>
                <a:ea typeface="Courier New" pitchFamily="49" charset="-122"/>
                <a:cs typeface="Courier New" pitchFamily="49" charset="-120"/>
              </a:rPr>
              <a:t>  "status": "observed",</a:t>
            </a:r>
            <a:endParaRPr lang="en-US" sz="1231" dirty="0"/>
          </a:p>
          <a:p>
            <a:pPr marL="0" indent="0" algn="l">
              <a:lnSpc>
                <a:spcPts val="1970"/>
              </a:lnSpc>
              <a:buNone/>
            </a:pPr>
            <a:r>
              <a:rPr lang="en-US" sz="1231" dirty="0">
                <a:solidFill>
                  <a:srgbClr val="F5F1EA"/>
                </a:solidFill>
                <a:latin typeface="Courier New" pitchFamily="49" charset="0"/>
                <a:ea typeface="Courier New" pitchFamily="49" charset="-122"/>
                <a:cs typeface="Courier New" pitchFamily="49" charset="-120"/>
              </a:rPr>
              <a:t>  "surface": "sofa1"</a:t>
            </a:r>
            <a:endParaRPr lang="en-US" sz="1231" dirty="0"/>
          </a:p>
          <a:p>
            <a:pPr marL="0" indent="0" algn="l">
              <a:lnSpc>
                <a:spcPts val="1970"/>
              </a:lnSpc>
              <a:buNone/>
            </a:pPr>
            <a:r>
              <a:rPr lang="en-US" sz="1231" dirty="0">
                <a:solidFill>
                  <a:srgbClr val="F5F1EA"/>
                </a:solidFill>
                <a:latin typeface="Courier New" pitchFamily="49" charset="0"/>
                <a:ea typeface="Courier New" pitchFamily="49" charset="-122"/>
                <a:cs typeface="Courier New" pitchFamily="49" charset="-120"/>
              </a:rPr>
              <a:t>}</a:t>
            </a:r>
            <a:endParaRPr lang="en-US" sz="1231" dirty="0"/>
          </a:p>
        </p:txBody>
      </p:sp>
      <p:sp>
        <p:nvSpPr>
          <p:cNvPr id="8" name="Text 5"/>
          <p:cNvSpPr/>
          <p:nvPr/>
        </p:nvSpPr>
        <p:spPr>
          <a:xfrm>
            <a:off x="3530560" y="4616411"/>
            <a:ext cx="2485431"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B8551F"/>
                </a:solidFill>
                <a:latin typeface="Courier New" pitchFamily="49" charset="0"/>
                <a:ea typeface="Courier New" pitchFamily="49" charset="-122"/>
                <a:cs typeface="Courier New" pitchFamily="49" charset="-120"/>
              </a:rPr>
              <a:t>STEP 02</a:t>
            </a:r>
            <a:endParaRPr lang="en-US" sz="1200" dirty="0"/>
          </a:p>
        </p:txBody>
      </p:sp>
      <p:sp>
        <p:nvSpPr>
          <p:cNvPr id="9" name="Text 6"/>
          <p:cNvSpPr/>
          <p:nvPr/>
        </p:nvSpPr>
        <p:spPr>
          <a:xfrm>
            <a:off x="3530560" y="4956752"/>
            <a:ext cx="2485431" cy="36062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5171C"/>
                </a:solidFill>
                <a:latin typeface="Inter" pitchFamily="34" charset="0"/>
                <a:ea typeface="Inter" pitchFamily="34" charset="-122"/>
                <a:cs typeface="Inter" pitchFamily="34" charset="-120"/>
              </a:rPr>
              <a:t>Look up</a:t>
            </a:r>
            <a:endParaRPr lang="en-US" sz="2200" dirty="0"/>
          </a:p>
        </p:txBody>
      </p:sp>
      <p:sp>
        <p:nvSpPr>
          <p:cNvPr id="10" name="Shape 7"/>
          <p:cNvSpPr/>
          <p:nvPr/>
        </p:nvSpPr>
        <p:spPr>
          <a:xfrm>
            <a:off x="6248400" y="2584431"/>
            <a:ext cx="2412980" cy="1905000"/>
          </a:xfrm>
          <a:prstGeom prst="roundRect">
            <a:avLst>
              <a:gd name="adj" fmla="val 4000"/>
            </a:avLst>
          </a:prstGeom>
          <a:solidFill>
            <a:srgbClr val="EBE5DA"/>
          </a:solidFill>
          <a:ln/>
        </p:spPr>
        <p:txBody>
          <a:bodyPr/>
          <a:lstStyle/>
          <a:p>
            <a:endParaRPr lang="en-US"/>
          </a:p>
        </p:txBody>
      </p:sp>
      <p:pic>
        <p:nvPicPr>
          <p:cNvPr id="11" name="Image 1" descr="A person and the remote on a grid, joined by a dashed line showing the distance between them"/>
          <p:cNvPicPr>
            <a:picLocks noChangeAspect="1"/>
          </p:cNvPicPr>
          <p:nvPr/>
        </p:nvPicPr>
        <p:blipFill>
          <a:blip r:embed="rId4"/>
          <a:srcRect/>
          <a:stretch/>
        </p:blipFill>
        <p:spPr>
          <a:xfrm>
            <a:off x="6248400" y="2584431"/>
            <a:ext cx="2412980" cy="1905000"/>
          </a:xfrm>
          <a:prstGeom prst="roundRect">
            <a:avLst>
              <a:gd name="adj" fmla="val 4000"/>
            </a:avLst>
          </a:prstGeom>
        </p:spPr>
      </p:pic>
      <p:sp>
        <p:nvSpPr>
          <p:cNvPr id="12" name="Text 8"/>
          <p:cNvSpPr/>
          <p:nvPr/>
        </p:nvSpPr>
        <p:spPr>
          <a:xfrm>
            <a:off x="7035800" y="2685991"/>
            <a:ext cx="1549380" cy="238760"/>
          </a:xfrm>
          <a:prstGeom prst="rect">
            <a:avLst/>
          </a:prstGeom>
          <a:noFill/>
          <a:ln/>
        </p:spPr>
        <p:txBody>
          <a:bodyPr wrap="none" lIns="0" tIns="0" rIns="0" bIns="0" rtlCol="0" anchor="t">
            <a:normAutofit/>
          </a:bodyPr>
          <a:lstStyle/>
          <a:p>
            <a:pPr marL="0" indent="0" algn="r">
              <a:lnSpc>
                <a:spcPts val="1680"/>
              </a:lnSpc>
              <a:buNone/>
            </a:pPr>
            <a:r>
              <a:rPr lang="en-US" sz="1200" dirty="0">
                <a:solidFill>
                  <a:srgbClr val="15171C"/>
                </a:solidFill>
                <a:latin typeface="Courier New" pitchFamily="49" charset="0"/>
                <a:ea typeface="Courier New" pitchFamily="49" charset="-122"/>
                <a:cs typeface="Courier New" pitchFamily="49" charset="-120"/>
              </a:rPr>
              <a:t>remote (x, y, z)</a:t>
            </a:r>
            <a:endParaRPr lang="en-US" sz="1200" dirty="0"/>
          </a:p>
        </p:txBody>
      </p:sp>
      <p:sp>
        <p:nvSpPr>
          <p:cNvPr id="13" name="Text 9"/>
          <p:cNvSpPr/>
          <p:nvPr/>
        </p:nvSpPr>
        <p:spPr>
          <a:xfrm>
            <a:off x="6349960" y="4184631"/>
            <a:ext cx="1320780"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15171C"/>
                </a:solidFill>
                <a:latin typeface="Courier New" pitchFamily="49" charset="0"/>
                <a:ea typeface="Courier New" pitchFamily="49" charset="-122"/>
                <a:cs typeface="Courier New" pitchFamily="49" charset="-120"/>
              </a:rPr>
              <a:t>you (x, y, z)</a:t>
            </a:r>
            <a:endParaRPr lang="en-US" sz="1200" dirty="0"/>
          </a:p>
        </p:txBody>
      </p:sp>
      <p:sp>
        <p:nvSpPr>
          <p:cNvPr id="14" name="Text 10"/>
          <p:cNvSpPr/>
          <p:nvPr/>
        </p:nvSpPr>
        <p:spPr>
          <a:xfrm>
            <a:off x="6248400" y="4616411"/>
            <a:ext cx="2485370"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B8551F"/>
                </a:solidFill>
                <a:latin typeface="Courier New" pitchFamily="49" charset="0"/>
                <a:ea typeface="Courier New" pitchFamily="49" charset="-122"/>
                <a:cs typeface="Courier New" pitchFamily="49" charset="-120"/>
              </a:rPr>
              <a:t>STEP 03</a:t>
            </a:r>
            <a:endParaRPr lang="en-US" sz="1200" dirty="0"/>
          </a:p>
        </p:txBody>
      </p:sp>
      <p:sp>
        <p:nvSpPr>
          <p:cNvPr id="15" name="Text 11"/>
          <p:cNvSpPr/>
          <p:nvPr/>
        </p:nvSpPr>
        <p:spPr>
          <a:xfrm>
            <a:off x="6248400" y="4956752"/>
            <a:ext cx="2485370" cy="36062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5171C"/>
                </a:solidFill>
                <a:latin typeface="Inter" pitchFamily="34" charset="0"/>
                <a:ea typeface="Inter" pitchFamily="34" charset="-122"/>
                <a:cs typeface="Inter" pitchFamily="34" charset="-120"/>
              </a:rPr>
              <a:t>Measure</a:t>
            </a:r>
            <a:endParaRPr lang="en-US" sz="2200" dirty="0"/>
          </a:p>
        </p:txBody>
      </p:sp>
      <p:sp>
        <p:nvSpPr>
          <p:cNvPr id="16" name="Shape 12"/>
          <p:cNvSpPr/>
          <p:nvPr/>
        </p:nvSpPr>
        <p:spPr>
          <a:xfrm>
            <a:off x="8966181" y="2584431"/>
            <a:ext cx="2412980" cy="1905000"/>
          </a:xfrm>
          <a:prstGeom prst="roundRect">
            <a:avLst>
              <a:gd name="adj" fmla="val 4000"/>
            </a:avLst>
          </a:prstGeom>
          <a:solidFill>
            <a:srgbClr val="E07A3F"/>
          </a:solidFill>
          <a:ln/>
        </p:spPr>
        <p:txBody>
          <a:bodyPr/>
          <a:lstStyle/>
          <a:p>
            <a:endParaRPr lang="en-US"/>
          </a:p>
        </p:txBody>
      </p:sp>
      <p:pic>
        <p:nvPicPr>
          <p:cNvPr id="17" name="Image 2" descr="Wristband vibrating, with pulses getting faster as you get closer"/>
          <p:cNvPicPr>
            <a:picLocks noChangeAspect="1"/>
          </p:cNvPicPr>
          <p:nvPr/>
        </p:nvPicPr>
        <p:blipFill>
          <a:blip r:embed="rId5"/>
          <a:srcRect/>
          <a:stretch/>
        </p:blipFill>
        <p:spPr>
          <a:xfrm>
            <a:off x="9156681" y="2774931"/>
            <a:ext cx="2031980" cy="1524000"/>
          </a:xfrm>
          <a:prstGeom prst="rect">
            <a:avLst/>
          </a:prstGeom>
        </p:spPr>
      </p:pic>
      <p:sp>
        <p:nvSpPr>
          <p:cNvPr id="18" name="Text 13"/>
          <p:cNvSpPr/>
          <p:nvPr/>
        </p:nvSpPr>
        <p:spPr>
          <a:xfrm>
            <a:off x="8966181" y="4616411"/>
            <a:ext cx="2485370"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B8551F"/>
                </a:solidFill>
                <a:latin typeface="Courier New" pitchFamily="49" charset="0"/>
                <a:ea typeface="Courier New" pitchFamily="49" charset="-122"/>
                <a:cs typeface="Courier New" pitchFamily="49" charset="-120"/>
              </a:rPr>
              <a:t>STEP 04</a:t>
            </a:r>
            <a:endParaRPr lang="en-US" sz="1200" dirty="0"/>
          </a:p>
        </p:txBody>
      </p:sp>
      <p:sp>
        <p:nvSpPr>
          <p:cNvPr id="19" name="Text 14"/>
          <p:cNvSpPr/>
          <p:nvPr/>
        </p:nvSpPr>
        <p:spPr>
          <a:xfrm>
            <a:off x="8966181" y="4956752"/>
            <a:ext cx="2485370" cy="36062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5171C"/>
                </a:solidFill>
                <a:latin typeface="Inter" pitchFamily="34" charset="0"/>
                <a:ea typeface="Inter" pitchFamily="34" charset="-122"/>
                <a:cs typeface="Inter" pitchFamily="34" charset="-120"/>
              </a:rPr>
              <a:t>Haptic Feedback</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71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2135291" y="2412980"/>
            <a:ext cx="7921419" cy="2057380"/>
          </a:xfrm>
          <a:prstGeom prst="rect">
            <a:avLst/>
          </a:prstGeom>
          <a:noFill/>
          <a:ln/>
        </p:spPr>
        <p:txBody>
          <a:bodyPr wrap="square" lIns="0" tIns="0" rIns="0" bIns="0" rtlCol="0" anchor="t">
            <a:normAutofit/>
          </a:bodyPr>
          <a:lstStyle/>
          <a:p>
            <a:pPr marL="0" indent="0" algn="ctr">
              <a:lnSpc>
                <a:spcPts val="16000"/>
              </a:lnSpc>
              <a:buNone/>
            </a:pPr>
            <a:r>
              <a:rPr lang="en-US" sz="16000" b="1" i="0" kern="0" spc="800" dirty="0">
                <a:solidFill>
                  <a:srgbClr val="E07A3F"/>
                </a:solidFill>
                <a:latin typeface="Inter" pitchFamily="34" charset="0"/>
                <a:ea typeface="Inter" pitchFamily="34" charset="-122"/>
                <a:cs typeface="Inter" pitchFamily="34" charset="-120"/>
              </a:rPr>
              <a:t>DEMO</a:t>
            </a:r>
            <a:endParaRPr lang="en-US" sz="16000" dirty="0"/>
          </a:p>
        </p:txBody>
      </p:sp>
      <p:pic>
        <p:nvPicPr>
          <p:cNvPr id="3" name="RecallDemoSlideDeck">
            <a:hlinkClick r:id="" action="ppaction://media"/>
            <a:extLst>
              <a:ext uri="{FF2B5EF4-FFF2-40B4-BE49-F238E27FC236}">
                <a16:creationId xmlns:a16="http://schemas.microsoft.com/office/drawing/2014/main" id="{7F76B730-D202-C77D-805F-C2715F619E2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135290" y="1275216"/>
            <a:ext cx="7657899" cy="43075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3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71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0" y="2086632"/>
            <a:ext cx="10883434" cy="58416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5F1EA"/>
                </a:solidFill>
                <a:latin typeface="Fraunces" pitchFamily="18" charset="0"/>
                <a:ea typeface="Fraunces" pitchFamily="18" charset="-122"/>
                <a:cs typeface="Fraunces" pitchFamily="18" charset="-120"/>
              </a:rPr>
              <a:t>What sets us apart</a:t>
            </a:r>
            <a:endParaRPr lang="en-US" sz="4000" dirty="0"/>
          </a:p>
        </p:txBody>
      </p:sp>
      <p:sp>
        <p:nvSpPr>
          <p:cNvPr id="3" name="Shape 1"/>
          <p:cNvSpPr/>
          <p:nvPr/>
        </p:nvSpPr>
        <p:spPr>
          <a:xfrm>
            <a:off x="812780" y="3102592"/>
            <a:ext cx="3386674" cy="1668721"/>
          </a:xfrm>
          <a:prstGeom prst="roundRect">
            <a:avLst>
              <a:gd name="adj" fmla="val 6088"/>
            </a:avLst>
          </a:prstGeom>
          <a:solidFill>
            <a:srgbClr val="22252D"/>
          </a:solidFill>
          <a:ln/>
        </p:spPr>
        <p:txBody>
          <a:bodyPr/>
          <a:lstStyle/>
          <a:p>
            <a:endParaRPr lang="en-US"/>
          </a:p>
        </p:txBody>
      </p:sp>
      <p:sp>
        <p:nvSpPr>
          <p:cNvPr id="4" name="Shape 2"/>
          <p:cNvSpPr/>
          <p:nvPr/>
        </p:nvSpPr>
        <p:spPr>
          <a:xfrm>
            <a:off x="812780" y="3102592"/>
            <a:ext cx="3386674" cy="1668721"/>
          </a:xfrm>
          <a:custGeom>
            <a:avLst/>
            <a:gdLst/>
            <a:ahLst/>
            <a:cxnLst/>
            <a:rect l="l" t="t" r="r" b="b"/>
            <a:pathLst>
              <a:path w="3386674" h="1668721">
                <a:moveTo>
                  <a:pt x="0" y="101600"/>
                </a:moveTo>
                <a:lnTo>
                  <a:pt x="0" y="101600"/>
                </a:lnTo>
                <a:arcTo wR="101600" hR="101600" stAng="10800000" swAng="5400000"/>
                <a:lnTo>
                  <a:pt x="3285074" y="0"/>
                </a:lnTo>
                <a:arcTo wR="101600" hR="101600" stAng="16200000" swAng="5400000"/>
                <a:lnTo>
                  <a:pt x="3386674" y="101600"/>
                </a:lnTo>
                <a:arcTo wR="101600" hR="63500" stAng="0" swAng="-5400000"/>
                <a:lnTo>
                  <a:pt x="101600" y="38100"/>
                </a:lnTo>
                <a:arcTo wR="101600" hR="63500" stAng="16200000" swAng="-5400000"/>
                <a:close/>
              </a:path>
            </a:pathLst>
          </a:custGeom>
          <a:solidFill>
            <a:srgbClr val="E07A3F"/>
          </a:solidFill>
          <a:ln/>
        </p:spPr>
        <p:txBody>
          <a:bodyPr/>
          <a:lstStyle/>
          <a:p>
            <a:endParaRPr lang="en-US"/>
          </a:p>
        </p:txBody>
      </p:sp>
      <p:sp>
        <p:nvSpPr>
          <p:cNvPr id="5" name="Text 3"/>
          <p:cNvSpPr/>
          <p:nvPr/>
        </p:nvSpPr>
        <p:spPr>
          <a:xfrm>
            <a:off x="1117580" y="3496270"/>
            <a:ext cx="2860386" cy="452120"/>
          </a:xfrm>
          <a:prstGeom prst="rect">
            <a:avLst/>
          </a:prstGeom>
          <a:noFill/>
          <a:ln/>
        </p:spPr>
        <p:txBody>
          <a:bodyPr wrap="square" lIns="0" tIns="0" rIns="0" bIns="0" rtlCol="0" anchor="t">
            <a:normAutofit/>
          </a:bodyPr>
          <a:lstStyle/>
          <a:p>
            <a:pPr marL="0" indent="0" algn="l">
              <a:lnSpc>
                <a:spcPts val="3360"/>
              </a:lnSpc>
              <a:buNone/>
            </a:pPr>
            <a:r>
              <a:rPr lang="en-US" sz="2400" strike="sngStrike" dirty="0">
                <a:solidFill>
                  <a:srgbClr val="6B6F78"/>
                </a:solidFill>
                <a:latin typeface="Inter" pitchFamily="34" charset="0"/>
                <a:ea typeface="Inter" pitchFamily="34" charset="-122"/>
                <a:cs typeface="Inter" pitchFamily="34" charset="-120"/>
              </a:rPr>
              <a:t>Trackers</a:t>
            </a:r>
            <a:endParaRPr lang="en-US" sz="2400" dirty="0"/>
          </a:p>
        </p:txBody>
      </p:sp>
      <p:sp>
        <p:nvSpPr>
          <p:cNvPr id="6" name="Text 4"/>
          <p:cNvSpPr/>
          <p:nvPr/>
        </p:nvSpPr>
        <p:spPr>
          <a:xfrm>
            <a:off x="1117580" y="4049973"/>
            <a:ext cx="2860386" cy="39116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E07A3F"/>
                </a:solidFill>
                <a:latin typeface="Inter" pitchFamily="34" charset="0"/>
                <a:ea typeface="Inter" pitchFamily="34" charset="-122"/>
                <a:cs typeface="Inter" pitchFamily="34" charset="-120"/>
              </a:rPr>
              <a:t>Object states</a:t>
            </a:r>
            <a:endParaRPr lang="en-US" sz="2400" dirty="0"/>
          </a:p>
        </p:txBody>
      </p:sp>
      <p:sp>
        <p:nvSpPr>
          <p:cNvPr id="7" name="Shape 5"/>
          <p:cNvSpPr/>
          <p:nvPr/>
        </p:nvSpPr>
        <p:spPr>
          <a:xfrm>
            <a:off x="4402634" y="3102592"/>
            <a:ext cx="3386733" cy="1668721"/>
          </a:xfrm>
          <a:prstGeom prst="roundRect">
            <a:avLst>
              <a:gd name="adj" fmla="val 6088"/>
            </a:avLst>
          </a:prstGeom>
          <a:solidFill>
            <a:srgbClr val="22252D"/>
          </a:solidFill>
          <a:ln/>
        </p:spPr>
        <p:txBody>
          <a:bodyPr/>
          <a:lstStyle/>
          <a:p>
            <a:endParaRPr lang="en-US"/>
          </a:p>
        </p:txBody>
      </p:sp>
      <p:sp>
        <p:nvSpPr>
          <p:cNvPr id="8" name="Shape 6"/>
          <p:cNvSpPr/>
          <p:nvPr/>
        </p:nvSpPr>
        <p:spPr>
          <a:xfrm>
            <a:off x="4402634" y="3102592"/>
            <a:ext cx="3386733" cy="1668721"/>
          </a:xfrm>
          <a:custGeom>
            <a:avLst/>
            <a:gdLst/>
            <a:ahLst/>
            <a:cxnLst/>
            <a:rect l="l" t="t" r="r" b="b"/>
            <a:pathLst>
              <a:path w="3386733" h="1668721">
                <a:moveTo>
                  <a:pt x="0" y="101600"/>
                </a:moveTo>
                <a:lnTo>
                  <a:pt x="0" y="101600"/>
                </a:lnTo>
                <a:arcTo wR="101600" hR="101600" stAng="10800000" swAng="5400000"/>
                <a:lnTo>
                  <a:pt x="3285133" y="0"/>
                </a:lnTo>
                <a:arcTo wR="101600" hR="101600" stAng="16200000" swAng="5400000"/>
                <a:lnTo>
                  <a:pt x="3386733" y="101600"/>
                </a:lnTo>
                <a:arcTo wR="101600" hR="63500" stAng="0" swAng="-5400000"/>
                <a:lnTo>
                  <a:pt x="101600" y="38100"/>
                </a:lnTo>
                <a:arcTo wR="101600" hR="63500" stAng="16200000" swAng="-5400000"/>
                <a:close/>
              </a:path>
            </a:pathLst>
          </a:custGeom>
          <a:solidFill>
            <a:srgbClr val="E07A3F"/>
          </a:solidFill>
          <a:ln/>
        </p:spPr>
        <p:txBody>
          <a:bodyPr/>
          <a:lstStyle/>
          <a:p>
            <a:endParaRPr lang="en-US"/>
          </a:p>
        </p:txBody>
      </p:sp>
      <p:sp>
        <p:nvSpPr>
          <p:cNvPr id="9" name="Text 7"/>
          <p:cNvSpPr/>
          <p:nvPr/>
        </p:nvSpPr>
        <p:spPr>
          <a:xfrm>
            <a:off x="4707434" y="3496270"/>
            <a:ext cx="2860447" cy="452120"/>
          </a:xfrm>
          <a:prstGeom prst="rect">
            <a:avLst/>
          </a:prstGeom>
          <a:noFill/>
          <a:ln/>
        </p:spPr>
        <p:txBody>
          <a:bodyPr wrap="square" lIns="0" tIns="0" rIns="0" bIns="0" rtlCol="0" anchor="t">
            <a:normAutofit/>
          </a:bodyPr>
          <a:lstStyle/>
          <a:p>
            <a:pPr marL="0" indent="0" algn="l">
              <a:lnSpc>
                <a:spcPts val="3360"/>
              </a:lnSpc>
              <a:buNone/>
            </a:pPr>
            <a:r>
              <a:rPr lang="en-US" sz="2400" strike="sngStrike" dirty="0">
                <a:solidFill>
                  <a:srgbClr val="6B6F78"/>
                </a:solidFill>
                <a:latin typeface="Inter" pitchFamily="34" charset="0"/>
                <a:ea typeface="Inter" pitchFamily="34" charset="-122"/>
                <a:cs typeface="Inter" pitchFamily="34" charset="-120"/>
              </a:rPr>
              <a:t>Cameras</a:t>
            </a:r>
            <a:endParaRPr lang="en-US" sz="2400" dirty="0"/>
          </a:p>
        </p:txBody>
      </p:sp>
      <p:sp>
        <p:nvSpPr>
          <p:cNvPr id="10" name="Text 8"/>
          <p:cNvSpPr/>
          <p:nvPr/>
        </p:nvSpPr>
        <p:spPr>
          <a:xfrm>
            <a:off x="4707434" y="4049973"/>
            <a:ext cx="2860447" cy="39116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E07A3F"/>
                </a:solidFill>
                <a:latin typeface="Inter" pitchFamily="34" charset="0"/>
                <a:ea typeface="Inter" pitchFamily="34" charset="-122"/>
                <a:cs typeface="Inter" pitchFamily="34" charset="-120"/>
              </a:rPr>
              <a:t>3D mesh model</a:t>
            </a:r>
            <a:endParaRPr lang="en-US" sz="2400" dirty="0"/>
          </a:p>
        </p:txBody>
      </p:sp>
      <p:sp>
        <p:nvSpPr>
          <p:cNvPr id="11" name="Shape 9"/>
          <p:cNvSpPr/>
          <p:nvPr/>
        </p:nvSpPr>
        <p:spPr>
          <a:xfrm>
            <a:off x="7992547" y="3102592"/>
            <a:ext cx="3386674" cy="1668721"/>
          </a:xfrm>
          <a:prstGeom prst="roundRect">
            <a:avLst>
              <a:gd name="adj" fmla="val 6088"/>
            </a:avLst>
          </a:prstGeom>
          <a:solidFill>
            <a:srgbClr val="E07A3F"/>
          </a:solidFill>
          <a:ln/>
        </p:spPr>
        <p:txBody>
          <a:bodyPr/>
          <a:lstStyle/>
          <a:p>
            <a:endParaRPr lang="en-US"/>
          </a:p>
        </p:txBody>
      </p:sp>
      <p:sp>
        <p:nvSpPr>
          <p:cNvPr id="12" name="Shape 10"/>
          <p:cNvSpPr/>
          <p:nvPr/>
        </p:nvSpPr>
        <p:spPr>
          <a:xfrm>
            <a:off x="7992547" y="3102592"/>
            <a:ext cx="3386674" cy="1668721"/>
          </a:xfrm>
          <a:custGeom>
            <a:avLst/>
            <a:gdLst/>
            <a:ahLst/>
            <a:cxnLst/>
            <a:rect l="l" t="t" r="r" b="b"/>
            <a:pathLst>
              <a:path w="3386674" h="1668721">
                <a:moveTo>
                  <a:pt x="0" y="101600"/>
                </a:moveTo>
                <a:lnTo>
                  <a:pt x="0" y="101600"/>
                </a:lnTo>
                <a:arcTo wR="101600" hR="101600" stAng="10800000" swAng="5400000"/>
                <a:lnTo>
                  <a:pt x="3285074" y="0"/>
                </a:lnTo>
                <a:arcTo wR="101600" hR="101600" stAng="16200000" swAng="5400000"/>
                <a:lnTo>
                  <a:pt x="3386674" y="101600"/>
                </a:lnTo>
                <a:arcTo wR="101600" hR="63500" stAng="0" swAng="-5400000"/>
                <a:lnTo>
                  <a:pt x="101600" y="38100"/>
                </a:lnTo>
                <a:arcTo wR="101600" hR="63500" stAng="16200000" swAng="-5400000"/>
                <a:close/>
              </a:path>
            </a:pathLst>
          </a:custGeom>
          <a:solidFill>
            <a:srgbClr val="E07A3F"/>
          </a:solidFill>
          <a:ln/>
        </p:spPr>
        <p:txBody>
          <a:bodyPr/>
          <a:lstStyle/>
          <a:p>
            <a:endParaRPr lang="en-US"/>
          </a:p>
        </p:txBody>
      </p:sp>
      <p:sp>
        <p:nvSpPr>
          <p:cNvPr id="13" name="Text 11"/>
          <p:cNvSpPr/>
          <p:nvPr/>
        </p:nvSpPr>
        <p:spPr>
          <a:xfrm>
            <a:off x="8297347" y="3496270"/>
            <a:ext cx="2860386" cy="452120"/>
          </a:xfrm>
          <a:prstGeom prst="rect">
            <a:avLst/>
          </a:prstGeom>
          <a:noFill/>
          <a:ln/>
        </p:spPr>
        <p:txBody>
          <a:bodyPr wrap="square" lIns="0" tIns="0" rIns="0" bIns="0" rtlCol="0" anchor="t">
            <a:normAutofit/>
          </a:bodyPr>
          <a:lstStyle/>
          <a:p>
            <a:pPr marL="0" indent="0" algn="l">
              <a:lnSpc>
                <a:spcPts val="3360"/>
              </a:lnSpc>
              <a:buNone/>
            </a:pPr>
            <a:r>
              <a:rPr lang="en-US" sz="2400" strike="sngStrike" dirty="0">
                <a:solidFill>
                  <a:srgbClr val="7A3A14"/>
                </a:solidFill>
                <a:latin typeface="Inter" pitchFamily="34" charset="0"/>
                <a:ea typeface="Inter" pitchFamily="34" charset="-122"/>
                <a:cs typeface="Inter" pitchFamily="34" charset="-120"/>
              </a:rPr>
              <a:t>AI assistants</a:t>
            </a:r>
            <a:endParaRPr lang="en-US" sz="2400" dirty="0"/>
          </a:p>
        </p:txBody>
      </p:sp>
      <p:sp>
        <p:nvSpPr>
          <p:cNvPr id="14" name="Text 12"/>
          <p:cNvSpPr/>
          <p:nvPr/>
        </p:nvSpPr>
        <p:spPr>
          <a:xfrm>
            <a:off x="8297347" y="4049973"/>
            <a:ext cx="2860386" cy="39116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5171C"/>
                </a:solidFill>
                <a:latin typeface="Inter" pitchFamily="34" charset="0"/>
                <a:ea typeface="Inter" pitchFamily="34" charset="-122"/>
                <a:cs typeface="Inter" pitchFamily="34" charset="-120"/>
              </a:rPr>
              <a:t>Haptic guide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7430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B8551F"/>
                </a:solidFill>
                <a:latin typeface="Inter" pitchFamily="34" charset="0"/>
                <a:ea typeface="Inter" pitchFamily="34" charset="-122"/>
                <a:cs typeface="Inter" pitchFamily="34" charset="-120"/>
              </a:rPr>
              <a:t>Onboarding</a:t>
            </a:r>
            <a:endParaRPr lang="en-US" sz="1400" dirty="0"/>
          </a:p>
        </p:txBody>
      </p:sp>
      <p:sp>
        <p:nvSpPr>
          <p:cNvPr id="3" name="Text 1"/>
          <p:cNvSpPr>
            <a:spLocks noGrp="1"/>
          </p:cNvSpPr>
          <p:nvPr>
            <p:ph type="title"/>
          </p:nvPr>
        </p:nvSpPr>
        <p:spPr>
          <a:xfrm>
            <a:off x="812780" y="1437742"/>
            <a:ext cx="10883434"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5171C"/>
                </a:solidFill>
                <a:latin typeface="Fraunces" pitchFamily="18" charset="0"/>
                <a:ea typeface="Fraunces" pitchFamily="18" charset="-122"/>
                <a:cs typeface="Fraunces" pitchFamily="18" charset="-120"/>
              </a:rPr>
              <a:t>The room learns its own depth</a:t>
            </a:r>
            <a:endParaRPr lang="en-US" sz="3600" dirty="0"/>
          </a:p>
        </p:txBody>
      </p:sp>
      <p:sp>
        <p:nvSpPr>
          <p:cNvPr id="4" name="Text 2"/>
          <p:cNvSpPr/>
          <p:nvPr/>
        </p:nvSpPr>
        <p:spPr>
          <a:xfrm>
            <a:off x="812780" y="2042220"/>
            <a:ext cx="10883434" cy="309840"/>
          </a:xfrm>
          <a:prstGeom prst="rect">
            <a:avLst/>
          </a:prstGeom>
          <a:noFill/>
          <a:ln/>
        </p:spPr>
        <p:txBody>
          <a:bodyPr wrap="none" lIns="0" tIns="0" rIns="0" bIns="0" rtlCol="0" anchor="t">
            <a:normAutofit/>
          </a:bodyPr>
          <a:lstStyle/>
          <a:p>
            <a:pPr marL="0" indent="0" algn="l">
              <a:lnSpc>
                <a:spcPts val="2240"/>
              </a:lnSpc>
              <a:buNone/>
            </a:pPr>
            <a:r>
              <a:rPr lang="en-US" sz="1600" dirty="0">
                <a:solidFill>
                  <a:srgbClr val="4A4E57"/>
                </a:solidFill>
                <a:latin typeface="Inter" pitchFamily="34" charset="0"/>
                <a:ea typeface="Inter" pitchFamily="34" charset="-122"/>
                <a:cs typeface="Inter" pitchFamily="34" charset="-120"/>
              </a:rPr>
              <a:t>Regular computer vision only sees flat pixels. </a:t>
            </a:r>
            <a:r>
              <a:rPr lang="en-US" sz="1600" b="1" dirty="0">
                <a:solidFill>
                  <a:srgbClr val="B8551F"/>
                </a:solidFill>
                <a:latin typeface="Inter" pitchFamily="34" charset="0"/>
                <a:ea typeface="Inter" pitchFamily="34" charset="-122"/>
                <a:cs typeface="Inter" pitchFamily="34" charset="-120"/>
              </a:rPr>
              <a:t>So we give the camera a 3D room.</a:t>
            </a:r>
            <a:endParaRPr lang="en-US" sz="1600" dirty="0"/>
          </a:p>
        </p:txBody>
      </p:sp>
      <p:sp>
        <p:nvSpPr>
          <p:cNvPr id="5" name="Shape 3"/>
          <p:cNvSpPr/>
          <p:nvPr/>
        </p:nvSpPr>
        <p:spPr>
          <a:xfrm>
            <a:off x="813852" y="2702719"/>
            <a:ext cx="3384530" cy="1320760"/>
          </a:xfrm>
          <a:prstGeom prst="roundRect">
            <a:avLst>
              <a:gd name="adj" fmla="val 7693"/>
            </a:avLst>
          </a:prstGeom>
          <a:solidFill>
            <a:srgbClr val="EBE5DA"/>
          </a:solidFill>
          <a:ln/>
        </p:spPr>
        <p:txBody>
          <a:bodyPr/>
          <a:lstStyle/>
          <a:p>
            <a:endParaRPr lang="en-US"/>
          </a:p>
        </p:txBody>
      </p:sp>
      <p:pic>
        <p:nvPicPr>
          <p:cNvPr id="6" name="Image 0" descr="Photo of the living room with printed ArUco markers on the wall, mantel and floor"/>
          <p:cNvPicPr>
            <a:picLocks noChangeAspect="1"/>
          </p:cNvPicPr>
          <p:nvPr/>
        </p:nvPicPr>
        <p:blipFill>
          <a:blip r:embed="rId3"/>
          <a:stretch>
            <a:fillRect/>
          </a:stretch>
        </p:blipFill>
        <p:spPr>
          <a:xfrm>
            <a:off x="1332108" y="2702719"/>
            <a:ext cx="2348018" cy="1320760"/>
          </a:xfrm>
          <a:prstGeom prst="rect">
            <a:avLst/>
          </a:prstGeom>
        </p:spPr>
      </p:pic>
      <p:pic>
        <p:nvPicPr>
          <p:cNvPr id="7" name="Image 1" descr="arrow-down"/>
          <p:cNvPicPr>
            <a:picLocks noChangeAspect="1"/>
          </p:cNvPicPr>
          <p:nvPr/>
        </p:nvPicPr>
        <p:blipFill>
          <a:blip r:embed="rId4"/>
          <a:srcRect l="-5" r="-5"/>
          <a:stretch/>
        </p:blipFill>
        <p:spPr>
          <a:xfrm>
            <a:off x="2429887" y="4074260"/>
            <a:ext cx="152400" cy="203180"/>
          </a:xfrm>
          <a:prstGeom prst="rect">
            <a:avLst/>
          </a:prstGeom>
        </p:spPr>
      </p:pic>
      <p:sp>
        <p:nvSpPr>
          <p:cNvPr id="8" name="Shape 4"/>
          <p:cNvSpPr/>
          <p:nvPr/>
        </p:nvSpPr>
        <p:spPr>
          <a:xfrm>
            <a:off x="813852" y="4328220"/>
            <a:ext cx="3384530" cy="1320760"/>
          </a:xfrm>
          <a:prstGeom prst="roundRect">
            <a:avLst>
              <a:gd name="adj" fmla="val 7693"/>
            </a:avLst>
          </a:prstGeom>
          <a:solidFill>
            <a:srgbClr val="EBE5DA"/>
          </a:solidFill>
          <a:ln/>
        </p:spPr>
        <p:txBody>
          <a:bodyPr/>
          <a:lstStyle/>
          <a:p>
            <a:endParaRPr lang="en-US"/>
          </a:p>
        </p:txBody>
      </p:sp>
      <p:pic>
        <p:nvPicPr>
          <p:cNvPr id="9" name="Image 2" descr="3D mesh of the living room from the LiDAR scan"/>
          <p:cNvPicPr>
            <a:picLocks noChangeAspect="1"/>
          </p:cNvPicPr>
          <p:nvPr/>
        </p:nvPicPr>
        <p:blipFill>
          <a:blip r:embed="rId5"/>
          <a:stretch>
            <a:fillRect/>
          </a:stretch>
        </p:blipFill>
        <p:spPr>
          <a:xfrm>
            <a:off x="1525440" y="4328220"/>
            <a:ext cx="1961354" cy="1320760"/>
          </a:xfrm>
          <a:prstGeom prst="rect">
            <a:avLst/>
          </a:prstGeom>
        </p:spPr>
      </p:pic>
      <p:sp>
        <p:nvSpPr>
          <p:cNvPr id="10" name="Text 5"/>
          <p:cNvSpPr/>
          <p:nvPr/>
        </p:nvSpPr>
        <p:spPr>
          <a:xfrm>
            <a:off x="812780" y="5750542"/>
            <a:ext cx="348827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551F"/>
                </a:solidFill>
                <a:latin typeface="Inter" pitchFamily="34" charset="0"/>
                <a:ea typeface="Inter" pitchFamily="34" charset="-122"/>
                <a:cs typeface="Inter" pitchFamily="34" charset="-120"/>
              </a:rPr>
              <a:t>1</a:t>
            </a:r>
            <a:r>
              <a:rPr lang="en-US" sz="1600" b="1" dirty="0">
                <a:solidFill>
                  <a:srgbClr val="15171C"/>
                </a:solidFill>
                <a:latin typeface="Inter" pitchFamily="34" charset="0"/>
                <a:ea typeface="Inter" pitchFamily="34" charset="-122"/>
                <a:cs typeface="Inter" pitchFamily="34" charset="-120"/>
              </a:rPr>
              <a:t> Scan the room</a:t>
            </a:r>
            <a:endParaRPr lang="en-US" sz="1600" dirty="0"/>
          </a:p>
        </p:txBody>
      </p:sp>
      <p:sp>
        <p:nvSpPr>
          <p:cNvPr id="11" name="Shape 6"/>
          <p:cNvSpPr/>
          <p:nvPr/>
        </p:nvSpPr>
        <p:spPr>
          <a:xfrm>
            <a:off x="4402634" y="2702719"/>
            <a:ext cx="3384530" cy="2997160"/>
          </a:xfrm>
          <a:prstGeom prst="roundRect">
            <a:avLst>
              <a:gd name="adj" fmla="val 3390"/>
            </a:avLst>
          </a:prstGeom>
          <a:solidFill>
            <a:srgbClr val="FFFFFF"/>
          </a:solidFill>
          <a:ln/>
        </p:spPr>
        <p:txBody>
          <a:bodyPr/>
          <a:lstStyle/>
          <a:p>
            <a:endParaRPr lang="en-US"/>
          </a:p>
        </p:txBody>
      </p:sp>
      <p:pic>
        <p:nvPicPr>
          <p:cNvPr id="12" name="Image 3" descr="Top-down mesh plan of the room with the markers pinned and the X and Z axes drawn from the origin"/>
          <p:cNvPicPr>
            <a:picLocks noChangeAspect="1"/>
          </p:cNvPicPr>
          <p:nvPr/>
        </p:nvPicPr>
        <p:blipFill>
          <a:blip r:embed="rId6"/>
          <a:stretch>
            <a:fillRect/>
          </a:stretch>
        </p:blipFill>
        <p:spPr>
          <a:xfrm>
            <a:off x="4707863" y="2702719"/>
            <a:ext cx="2774071" cy="2997160"/>
          </a:xfrm>
          <a:prstGeom prst="rect">
            <a:avLst/>
          </a:prstGeom>
        </p:spPr>
      </p:pic>
      <p:sp>
        <p:nvSpPr>
          <p:cNvPr id="13" name="Text 7"/>
          <p:cNvSpPr/>
          <p:nvPr/>
        </p:nvSpPr>
        <p:spPr>
          <a:xfrm>
            <a:off x="4402634" y="5801441"/>
            <a:ext cx="348833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551F"/>
                </a:solidFill>
                <a:latin typeface="Inter" pitchFamily="34" charset="0"/>
                <a:ea typeface="Inter" pitchFamily="34" charset="-122"/>
                <a:cs typeface="Inter" pitchFamily="34" charset="-120"/>
              </a:rPr>
              <a:t>2</a:t>
            </a:r>
            <a:r>
              <a:rPr lang="en-US" sz="1600" b="1" dirty="0">
                <a:solidFill>
                  <a:srgbClr val="15171C"/>
                </a:solidFill>
                <a:latin typeface="Inter" pitchFamily="34" charset="0"/>
                <a:ea typeface="Inter" pitchFamily="34" charset="-122"/>
                <a:cs typeface="Inter" pitchFamily="34" charset="-120"/>
              </a:rPr>
              <a:t> Pin markers, set coordinates</a:t>
            </a:r>
            <a:endParaRPr lang="en-US" sz="1600" dirty="0"/>
          </a:p>
        </p:txBody>
      </p:sp>
      <p:sp>
        <p:nvSpPr>
          <p:cNvPr id="14" name="Shape 8"/>
          <p:cNvSpPr/>
          <p:nvPr/>
        </p:nvSpPr>
        <p:spPr>
          <a:xfrm>
            <a:off x="7992547" y="2702719"/>
            <a:ext cx="3384530" cy="2997160"/>
          </a:xfrm>
          <a:prstGeom prst="roundRect">
            <a:avLst>
              <a:gd name="adj" fmla="val 3390"/>
            </a:avLst>
          </a:prstGeom>
          <a:solidFill>
            <a:srgbClr val="FFFFFF"/>
          </a:solidFill>
          <a:ln/>
        </p:spPr>
        <p:txBody>
          <a:bodyPr/>
          <a:lstStyle/>
          <a:p>
            <a:endParaRPr lang="en-US"/>
          </a:p>
        </p:txBody>
      </p:sp>
      <p:pic>
        <p:nvPicPr>
          <p:cNvPr id="15" name="Image 4" descr="3D mesh of the room with the corner camera placed in it, its field of view and sight lines to the markers drawn in"/>
          <p:cNvPicPr>
            <a:picLocks noChangeAspect="1"/>
          </p:cNvPicPr>
          <p:nvPr/>
        </p:nvPicPr>
        <p:blipFill>
          <a:blip r:embed="rId7"/>
          <a:stretch>
            <a:fillRect/>
          </a:stretch>
        </p:blipFill>
        <p:spPr>
          <a:xfrm>
            <a:off x="7992547" y="3061741"/>
            <a:ext cx="3384530" cy="2279116"/>
          </a:xfrm>
          <a:prstGeom prst="rect">
            <a:avLst/>
          </a:prstGeom>
        </p:spPr>
      </p:pic>
      <p:sp>
        <p:nvSpPr>
          <p:cNvPr id="16" name="Text 9"/>
          <p:cNvSpPr/>
          <p:nvPr/>
        </p:nvSpPr>
        <p:spPr>
          <a:xfrm>
            <a:off x="7992547" y="5801441"/>
            <a:ext cx="348827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551F"/>
                </a:solidFill>
                <a:latin typeface="Inter" pitchFamily="34" charset="0"/>
                <a:ea typeface="Inter" pitchFamily="34" charset="-122"/>
                <a:cs typeface="Inter" pitchFamily="34" charset="-120"/>
              </a:rPr>
              <a:t>3</a:t>
            </a:r>
            <a:r>
              <a:rPr lang="en-US" sz="1600" b="1" dirty="0">
                <a:solidFill>
                  <a:srgbClr val="15171C"/>
                </a:solidFill>
                <a:latin typeface="Inter" pitchFamily="34" charset="0"/>
                <a:ea typeface="Inter" pitchFamily="34" charset="-122"/>
                <a:cs typeface="Inter" pitchFamily="34" charset="-120"/>
              </a:rPr>
              <a:t> Place the camera in the model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812780" y="812778"/>
            <a:ext cx="10883434" cy="27430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B8551F"/>
                </a:solidFill>
                <a:latin typeface="Inter" pitchFamily="34" charset="0"/>
                <a:ea typeface="Inter" pitchFamily="34" charset="-122"/>
                <a:cs typeface="Inter" pitchFamily="34" charset="-120"/>
              </a:rPr>
              <a:t>DETECTION</a:t>
            </a:r>
            <a:endParaRPr lang="en-US" sz="1400" dirty="0"/>
          </a:p>
        </p:txBody>
      </p:sp>
      <p:sp>
        <p:nvSpPr>
          <p:cNvPr id="3" name="Text 1"/>
          <p:cNvSpPr>
            <a:spLocks noGrp="1"/>
          </p:cNvSpPr>
          <p:nvPr>
            <p:ph type="title"/>
          </p:nvPr>
        </p:nvSpPr>
        <p:spPr>
          <a:xfrm>
            <a:off x="812780" y="1584362"/>
            <a:ext cx="10883434"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5171C"/>
                </a:solidFill>
                <a:latin typeface="Fraunces" pitchFamily="18" charset="0"/>
                <a:ea typeface="Fraunces" pitchFamily="18" charset="-122"/>
                <a:cs typeface="Fraunces" pitchFamily="18" charset="-120"/>
              </a:rPr>
              <a:t>It finds each object and remembers where it is</a:t>
            </a:r>
            <a:endParaRPr lang="en-US" sz="3600" dirty="0"/>
          </a:p>
        </p:txBody>
      </p:sp>
      <p:sp>
        <p:nvSpPr>
          <p:cNvPr id="4" name="Shape 2"/>
          <p:cNvSpPr/>
          <p:nvPr/>
        </p:nvSpPr>
        <p:spPr>
          <a:xfrm>
            <a:off x="812780" y="2609909"/>
            <a:ext cx="6096000" cy="3435310"/>
          </a:xfrm>
          <a:prstGeom prst="roundRect">
            <a:avLst>
              <a:gd name="adj" fmla="val 2958"/>
            </a:avLst>
          </a:prstGeom>
          <a:solidFill>
            <a:srgbClr val="15171C"/>
          </a:solidFill>
          <a:ln/>
        </p:spPr>
        <p:txBody>
          <a:bodyPr/>
          <a:lstStyle/>
          <a:p>
            <a:endParaRPr lang="en-US"/>
          </a:p>
        </p:txBody>
      </p:sp>
      <p:pic>
        <p:nvPicPr>
          <p:cNvPr id="5" name="Image 0" descr="Live camera view of the room: couches and table outlined from the 3D model, YOLO-World boxes on the bag, glasses, wallet and remote with confidence scores, and a status list of each object"/>
          <p:cNvPicPr>
            <a:picLocks noChangeAspect="1"/>
          </p:cNvPicPr>
          <p:nvPr/>
        </p:nvPicPr>
        <p:blipFill>
          <a:blip r:embed="rId3"/>
          <a:srcRect l="-143" r="-143"/>
          <a:stretch/>
        </p:blipFill>
        <p:spPr>
          <a:xfrm>
            <a:off x="812780" y="2609909"/>
            <a:ext cx="6096000" cy="3435310"/>
          </a:xfrm>
          <a:prstGeom prst="roundRect">
            <a:avLst>
              <a:gd name="adj" fmla="val 2958"/>
            </a:avLst>
          </a:prstGeom>
        </p:spPr>
      </p:pic>
      <p:sp>
        <p:nvSpPr>
          <p:cNvPr id="6" name="Text 3"/>
          <p:cNvSpPr/>
          <p:nvPr/>
        </p:nvSpPr>
        <p:spPr>
          <a:xfrm>
            <a:off x="7213581" y="2630388"/>
            <a:ext cx="4165640" cy="3394294"/>
          </a:xfrm>
          <a:prstGeom prst="roundRect">
            <a:avLst>
              <a:gd name="adj" fmla="val 2993"/>
            </a:avLst>
          </a:prstGeom>
          <a:solidFill>
            <a:srgbClr val="15171C"/>
          </a:solidFill>
          <a:ln/>
        </p:spPr>
        <p:txBody>
          <a:bodyPr wrap="square" lIns="173442" tIns="148042" rIns="60665" bIns="122642" rtlCol="0" anchor="t">
            <a:normAutofit/>
          </a:bodyPr>
          <a:lstStyle/>
          <a:p>
            <a:pPr marL="0" indent="0" algn="l">
              <a:lnSpc>
                <a:spcPts val="1595"/>
              </a:lnSpc>
              <a:buNone/>
            </a:pPr>
            <a:r>
              <a:rPr lang="en-US" sz="1100" dirty="0">
                <a:solidFill>
                  <a:srgbClr val="8D9099"/>
                </a:solidFill>
                <a:latin typeface="Courier New" pitchFamily="49" charset="0"/>
                <a:ea typeface="Courier New" pitchFamily="49" charset="-122"/>
                <a:cs typeface="Courier New" pitchFamily="49" charset="-120"/>
              </a:rPr>
              <a:t>// state.json: the whole memory</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r>
              <a:rPr lang="en-US" sz="1100" dirty="0">
                <a:solidFill>
                  <a:srgbClr val="E07A3F"/>
                </a:solidFill>
                <a:latin typeface="Courier New" pitchFamily="49" charset="0"/>
                <a:ea typeface="Courier New" pitchFamily="49" charset="-122"/>
                <a:cs typeface="Courier New" pitchFamily="49" charset="-120"/>
              </a:rPr>
              <a:t>"glasses"</a:t>
            </a:r>
            <a:r>
              <a:rPr lang="en-US" sz="1100" dirty="0">
                <a:solidFill>
                  <a:srgbClr val="F5F1EA"/>
                </a:solidFill>
                <a:latin typeface="Courier New" pitchFamily="49" charset="0"/>
                <a:ea typeface="Courier New" pitchFamily="49" charset="-122"/>
                <a:cs typeface="Courier New" pitchFamily="49" charset="-120"/>
              </a:rPr>
              <a:t>: {</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r>
              <a:rPr lang="en-US" sz="1100" dirty="0">
                <a:solidFill>
                  <a:srgbClr val="E07A3F"/>
                </a:solidFill>
                <a:latin typeface="Courier New" pitchFamily="49" charset="0"/>
                <a:ea typeface="Courier New" pitchFamily="49" charset="-122"/>
                <a:cs typeface="Courier New" pitchFamily="49" charset="-120"/>
              </a:rPr>
              <a:t>"status"</a:t>
            </a:r>
            <a:r>
              <a:rPr lang="en-US" sz="1100" dirty="0">
                <a:solidFill>
                  <a:srgbClr val="F5F1EA"/>
                </a:solidFill>
                <a:latin typeface="Courier New" pitchFamily="49" charset="0"/>
                <a:ea typeface="Courier New" pitchFamily="49" charset="-122"/>
                <a:cs typeface="Courier New" pitchFamily="49" charset="-120"/>
              </a:rPr>
              <a:t>: "observed",</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r>
              <a:rPr lang="en-US" sz="1100" dirty="0">
                <a:solidFill>
                  <a:srgbClr val="E07A3F"/>
                </a:solidFill>
                <a:latin typeface="Courier New" pitchFamily="49" charset="0"/>
                <a:ea typeface="Courier New" pitchFamily="49" charset="-122"/>
                <a:cs typeface="Courier New" pitchFamily="49" charset="-120"/>
              </a:rPr>
              <a:t>"surface"</a:t>
            </a:r>
            <a:r>
              <a:rPr lang="en-US" sz="1100" dirty="0">
                <a:solidFill>
                  <a:srgbClr val="F5F1EA"/>
                </a:solidFill>
                <a:latin typeface="Courier New" pitchFamily="49" charset="0"/>
                <a:ea typeface="Courier New" pitchFamily="49" charset="-122"/>
                <a:cs typeface="Courier New" pitchFamily="49" charset="-120"/>
              </a:rPr>
              <a:t>: "couch3",</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r>
              <a:rPr lang="en-US" sz="1100" dirty="0">
                <a:solidFill>
                  <a:srgbClr val="E07A3F"/>
                </a:solidFill>
                <a:latin typeface="Courier New" pitchFamily="49" charset="0"/>
                <a:ea typeface="Courier New" pitchFamily="49" charset="-122"/>
                <a:cs typeface="Courier New" pitchFamily="49" charset="-120"/>
              </a:rPr>
              <a:t>"xyz"</a:t>
            </a:r>
            <a:r>
              <a:rPr lang="en-US" sz="1100" dirty="0">
                <a:solidFill>
                  <a:srgbClr val="F5F1EA"/>
                </a:solidFill>
                <a:latin typeface="Courier New" pitchFamily="49" charset="0"/>
                <a:ea typeface="Courier New" pitchFamily="49" charset="-122"/>
                <a:cs typeface="Courier New" pitchFamily="49" charset="-120"/>
              </a:rPr>
              <a:t>: [x, y, z],</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r>
              <a:rPr lang="en-US" sz="1100" dirty="0">
                <a:solidFill>
                  <a:srgbClr val="E07A3F"/>
                </a:solidFill>
                <a:latin typeface="Courier New" pitchFamily="49" charset="0"/>
                <a:ea typeface="Courier New" pitchFamily="49" charset="-122"/>
                <a:cs typeface="Courier New" pitchFamily="49" charset="-120"/>
              </a:rPr>
              <a:t>"reference"</a:t>
            </a:r>
            <a:r>
              <a:rPr lang="en-US" sz="1100" dirty="0">
                <a:solidFill>
                  <a:srgbClr val="F5F1EA"/>
                </a:solidFill>
                <a:latin typeface="Courier New" pitchFamily="49" charset="0"/>
                <a:ea typeface="Courier New" pitchFamily="49" charset="-122"/>
                <a:cs typeface="Courier New" pitchFamily="49" charset="-120"/>
              </a:rPr>
              <a:t>: "glasses.png"</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r>
              <a:rPr lang="en-US" sz="1100" dirty="0">
                <a:solidFill>
                  <a:srgbClr val="E07A3F"/>
                </a:solidFill>
                <a:latin typeface="Courier New" pitchFamily="49" charset="0"/>
                <a:ea typeface="Courier New" pitchFamily="49" charset="-122"/>
                <a:cs typeface="Courier New" pitchFamily="49" charset="-120"/>
              </a:rPr>
              <a:t>"bag"</a:t>
            </a:r>
            <a:r>
              <a:rPr lang="en-US" sz="1100" dirty="0">
                <a:solidFill>
                  <a:srgbClr val="F5F1EA"/>
                </a:solidFill>
                <a:latin typeface="Courier New" pitchFamily="49" charset="0"/>
                <a:ea typeface="Courier New" pitchFamily="49" charset="-122"/>
                <a:cs typeface="Courier New" pitchFamily="49" charset="-120"/>
              </a:rPr>
              <a:t>: {</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r>
              <a:rPr lang="en-US" sz="1100" dirty="0">
                <a:solidFill>
                  <a:srgbClr val="E07A3F"/>
                </a:solidFill>
                <a:latin typeface="Courier New" pitchFamily="49" charset="0"/>
                <a:ea typeface="Courier New" pitchFamily="49" charset="-122"/>
                <a:cs typeface="Courier New" pitchFamily="49" charset="-120"/>
              </a:rPr>
              <a:t>"status"</a:t>
            </a:r>
            <a:r>
              <a:rPr lang="en-US" sz="1100" dirty="0">
                <a:solidFill>
                  <a:srgbClr val="F5F1EA"/>
                </a:solidFill>
                <a:latin typeface="Courier New" pitchFamily="49" charset="0"/>
                <a:ea typeface="Courier New" pitchFamily="49" charset="-122"/>
                <a:cs typeface="Courier New" pitchFamily="49" charset="-120"/>
              </a:rPr>
              <a:t>: "observed",</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r>
              <a:rPr lang="en-US" sz="1100" dirty="0">
                <a:solidFill>
                  <a:srgbClr val="E07A3F"/>
                </a:solidFill>
                <a:latin typeface="Courier New" pitchFamily="49" charset="0"/>
                <a:ea typeface="Courier New" pitchFamily="49" charset="-122"/>
                <a:cs typeface="Courier New" pitchFamily="49" charset="-120"/>
              </a:rPr>
              <a:t>"surface"</a:t>
            </a:r>
            <a:r>
              <a:rPr lang="en-US" sz="1100" dirty="0">
                <a:solidFill>
                  <a:srgbClr val="F5F1EA"/>
                </a:solidFill>
                <a:latin typeface="Courier New" pitchFamily="49" charset="0"/>
                <a:ea typeface="Courier New" pitchFamily="49" charset="-122"/>
                <a:cs typeface="Courier New" pitchFamily="49" charset="-120"/>
              </a:rPr>
              <a:t>: "couch3",</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r>
              <a:rPr lang="en-US" sz="1100" dirty="0">
                <a:solidFill>
                  <a:srgbClr val="E07A3F"/>
                </a:solidFill>
                <a:latin typeface="Courier New" pitchFamily="49" charset="0"/>
                <a:ea typeface="Courier New" pitchFamily="49" charset="-122"/>
                <a:cs typeface="Courier New" pitchFamily="49" charset="-120"/>
              </a:rPr>
              <a:t>"xyz"</a:t>
            </a:r>
            <a:r>
              <a:rPr lang="en-US" sz="1100" dirty="0">
                <a:solidFill>
                  <a:srgbClr val="F5F1EA"/>
                </a:solidFill>
                <a:latin typeface="Courier New" pitchFamily="49" charset="0"/>
                <a:ea typeface="Courier New" pitchFamily="49" charset="-122"/>
                <a:cs typeface="Courier New" pitchFamily="49" charset="-120"/>
              </a:rPr>
              <a:t>: [x, y, z],</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r>
              <a:rPr lang="en-US" sz="1100" dirty="0">
                <a:solidFill>
                  <a:srgbClr val="E07A3F"/>
                </a:solidFill>
                <a:latin typeface="Courier New" pitchFamily="49" charset="0"/>
                <a:ea typeface="Courier New" pitchFamily="49" charset="-122"/>
                <a:cs typeface="Courier New" pitchFamily="49" charset="-120"/>
              </a:rPr>
              <a:t>"reference"</a:t>
            </a:r>
            <a:r>
              <a:rPr lang="en-US" sz="1100" dirty="0">
                <a:solidFill>
                  <a:srgbClr val="F5F1EA"/>
                </a:solidFill>
                <a:latin typeface="Courier New" pitchFamily="49" charset="0"/>
                <a:ea typeface="Courier New" pitchFamily="49" charset="-122"/>
                <a:cs typeface="Courier New" pitchFamily="49" charset="-120"/>
              </a:rPr>
              <a:t>: "bag.png"</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  }</a:t>
            </a:r>
            <a:endParaRPr lang="en-US" sz="1100" dirty="0"/>
          </a:p>
          <a:p>
            <a:pPr marL="0" indent="0" algn="l">
              <a:lnSpc>
                <a:spcPts val="1595"/>
              </a:lnSpc>
              <a:buNone/>
            </a:pPr>
            <a:r>
              <a:rPr lang="en-US" sz="1100" dirty="0">
                <a:solidFill>
                  <a:srgbClr val="F5F1EA"/>
                </a:solidFill>
                <a:latin typeface="Courier New" pitchFamily="49" charset="0"/>
                <a:ea typeface="Courier New" pitchFamily="49" charset="-122"/>
                <a:cs typeface="Courier New" pitchFamily="49" charset="-120"/>
              </a:rPr>
              <a: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812780" y="812778"/>
            <a:ext cx="10883434" cy="27430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B8551F"/>
                </a:solidFill>
                <a:latin typeface="Inter" pitchFamily="34" charset="0"/>
                <a:ea typeface="Inter" pitchFamily="34" charset="-122"/>
                <a:cs typeface="Inter" pitchFamily="34" charset="-120"/>
              </a:rPr>
              <a:t>THE BAND</a:t>
            </a:r>
            <a:endParaRPr lang="en-US" sz="1400" dirty="0"/>
          </a:p>
        </p:txBody>
      </p:sp>
      <p:sp>
        <p:nvSpPr>
          <p:cNvPr id="3" name="Text 1"/>
          <p:cNvSpPr>
            <a:spLocks noGrp="1"/>
          </p:cNvSpPr>
          <p:nvPr>
            <p:ph type="title"/>
          </p:nvPr>
        </p:nvSpPr>
        <p:spPr>
          <a:xfrm>
            <a:off x="812780" y="16154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5171C"/>
                </a:solidFill>
                <a:latin typeface="Fraunces" pitchFamily="18" charset="0"/>
                <a:ea typeface="Fraunces" pitchFamily="18" charset="-122"/>
                <a:cs typeface="Fraunces" pitchFamily="18" charset="-120"/>
              </a:rPr>
              <a:t>Haptic guidance helps you </a:t>
            </a:r>
            <a:r>
              <a:rPr lang="en-US" sz="3200" b="0" i="0" dirty="0">
                <a:solidFill>
                  <a:srgbClr val="E07A3F"/>
                </a:solidFill>
                <a:latin typeface="Fraunces" pitchFamily="18" charset="0"/>
                <a:ea typeface="Fraunces" pitchFamily="18" charset="-122"/>
                <a:cs typeface="Fraunces" pitchFamily="18" charset="-120"/>
              </a:rPr>
              <a:t>Recall.</a:t>
            </a:r>
            <a:endParaRPr lang="en-US" sz="3200" dirty="0"/>
          </a:p>
        </p:txBody>
      </p:sp>
      <p:pic>
        <p:nvPicPr>
          <p:cNvPr id="4" name="Image 0" descr="The band prototype on a wooden floor: an ESP32-S3 on a breadboard with a round push button, a servo and a small blue board"/>
          <p:cNvPicPr>
            <a:picLocks noChangeAspect="1"/>
          </p:cNvPicPr>
          <p:nvPr/>
        </p:nvPicPr>
        <p:blipFill>
          <a:blip r:embed="rId3"/>
          <a:srcRect t="27" b="27"/>
          <a:stretch/>
        </p:blipFill>
        <p:spPr>
          <a:xfrm>
            <a:off x="812780" y="2616219"/>
            <a:ext cx="6096000" cy="3429000"/>
          </a:xfrm>
          <a:prstGeom prst="roundRect">
            <a:avLst>
              <a:gd name="adj" fmla="val 2963"/>
            </a:avLst>
          </a:prstGeom>
        </p:spPr>
      </p:pic>
      <p:pic>
        <p:nvPicPr>
          <p:cNvPr id="5" name="Image 1" descr="connector"/>
          <p:cNvPicPr>
            <a:picLocks noChangeAspect="1"/>
          </p:cNvPicPr>
          <p:nvPr/>
        </p:nvPicPr>
        <p:blipFill>
          <a:blip r:embed="rId4"/>
          <a:srcRect/>
          <a:stretch/>
        </p:blipFill>
        <p:spPr>
          <a:xfrm>
            <a:off x="3625810" y="3009900"/>
            <a:ext cx="1060430" cy="1384280"/>
          </a:xfrm>
          <a:prstGeom prst="rect">
            <a:avLst/>
          </a:prstGeom>
        </p:spPr>
      </p:pic>
      <p:pic>
        <p:nvPicPr>
          <p:cNvPr id="6" name="Image 2" descr="connector"/>
          <p:cNvPicPr>
            <a:picLocks noChangeAspect="1"/>
          </p:cNvPicPr>
          <p:nvPr/>
        </p:nvPicPr>
        <p:blipFill>
          <a:blip r:embed="rId5"/>
          <a:srcRect/>
          <a:stretch/>
        </p:blipFill>
        <p:spPr>
          <a:xfrm>
            <a:off x="2146280" y="3797319"/>
            <a:ext cx="1079480" cy="812780"/>
          </a:xfrm>
          <a:prstGeom prst="rect">
            <a:avLst/>
          </a:prstGeom>
        </p:spPr>
      </p:pic>
      <p:pic>
        <p:nvPicPr>
          <p:cNvPr id="7" name="Image 3" descr="connector"/>
          <p:cNvPicPr>
            <a:picLocks noChangeAspect="1"/>
          </p:cNvPicPr>
          <p:nvPr/>
        </p:nvPicPr>
        <p:blipFill>
          <a:blip r:embed="rId6"/>
          <a:srcRect l="-3" r="-3"/>
          <a:stretch/>
        </p:blipFill>
        <p:spPr>
          <a:xfrm>
            <a:off x="2019241" y="5105397"/>
            <a:ext cx="1117580" cy="558760"/>
          </a:xfrm>
          <a:prstGeom prst="rect">
            <a:avLst/>
          </a:prstGeom>
        </p:spPr>
      </p:pic>
      <p:pic>
        <p:nvPicPr>
          <p:cNvPr id="8" name="Image 4" descr="connector"/>
          <p:cNvPicPr>
            <a:picLocks noChangeAspect="1"/>
          </p:cNvPicPr>
          <p:nvPr/>
        </p:nvPicPr>
        <p:blipFill>
          <a:blip r:embed="rId7"/>
          <a:srcRect/>
          <a:stretch/>
        </p:blipFill>
        <p:spPr>
          <a:xfrm>
            <a:off x="4248091" y="4705347"/>
            <a:ext cx="1200150" cy="514350"/>
          </a:xfrm>
          <a:prstGeom prst="rect">
            <a:avLst/>
          </a:prstGeom>
        </p:spPr>
      </p:pic>
      <p:pic>
        <p:nvPicPr>
          <p:cNvPr id="9" name="Image 5" descr="ellipse"/>
          <p:cNvPicPr>
            <a:picLocks noChangeAspect="1"/>
          </p:cNvPicPr>
          <p:nvPr/>
        </p:nvPicPr>
        <p:blipFill>
          <a:blip r:embed="rId8"/>
          <a:srcRect/>
          <a:stretch/>
        </p:blipFill>
        <p:spPr>
          <a:xfrm>
            <a:off x="4248091" y="4705347"/>
            <a:ext cx="126980" cy="126980"/>
          </a:xfrm>
          <a:prstGeom prst="rect">
            <a:avLst/>
          </a:prstGeom>
        </p:spPr>
      </p:pic>
      <p:sp>
        <p:nvSpPr>
          <p:cNvPr id="10" name="Text 2"/>
          <p:cNvSpPr/>
          <p:nvPr/>
        </p:nvSpPr>
        <p:spPr>
          <a:xfrm>
            <a:off x="5384780" y="5029197"/>
            <a:ext cx="1269980" cy="314920"/>
          </a:xfrm>
          <a:prstGeom prst="roundRect">
            <a:avLst>
              <a:gd name="adj" fmla="val 50000"/>
            </a:avLst>
          </a:prstGeom>
          <a:solidFill>
            <a:srgbClr val="15171C"/>
          </a:solidFill>
          <a:ln/>
        </p:spPr>
        <p:txBody>
          <a:bodyPr wrap="none" lIns="68181" tIns="4681" rIns="17381" bIns="0" rtlCol="0" anchor="t">
            <a:normAutofit/>
          </a:bodyPr>
          <a:lstStyle/>
          <a:p>
            <a:pPr marL="0" indent="0" algn="l">
              <a:lnSpc>
                <a:spcPts val="1680"/>
              </a:lnSpc>
              <a:buNone/>
            </a:pPr>
            <a:r>
              <a:rPr lang="en-US" sz="1200" b="1" dirty="0">
                <a:solidFill>
                  <a:srgbClr val="F5F1EA"/>
                </a:solidFill>
                <a:latin typeface="Inter" pitchFamily="34" charset="0"/>
                <a:ea typeface="Inter" pitchFamily="34" charset="-122"/>
                <a:cs typeface="Inter" pitchFamily="34" charset="-120"/>
              </a:rPr>
              <a:t>Microphone</a:t>
            </a:r>
            <a:endParaRPr lang="en-US" sz="1200" dirty="0"/>
          </a:p>
        </p:txBody>
      </p:sp>
      <p:pic>
        <p:nvPicPr>
          <p:cNvPr id="11" name="Image 6" descr="ellipse"/>
          <p:cNvPicPr>
            <a:picLocks noChangeAspect="1"/>
          </p:cNvPicPr>
          <p:nvPr/>
        </p:nvPicPr>
        <p:blipFill>
          <a:blip r:embed="rId8"/>
          <a:srcRect/>
          <a:stretch/>
        </p:blipFill>
        <p:spPr>
          <a:xfrm>
            <a:off x="3625810" y="4267197"/>
            <a:ext cx="126980" cy="126980"/>
          </a:xfrm>
          <a:prstGeom prst="rect">
            <a:avLst/>
          </a:prstGeom>
        </p:spPr>
      </p:pic>
      <p:pic>
        <p:nvPicPr>
          <p:cNvPr id="12" name="Image 7" descr="ellipse"/>
          <p:cNvPicPr>
            <a:picLocks noChangeAspect="1"/>
          </p:cNvPicPr>
          <p:nvPr/>
        </p:nvPicPr>
        <p:blipFill>
          <a:blip r:embed="rId8"/>
          <a:srcRect/>
          <a:stretch/>
        </p:blipFill>
        <p:spPr>
          <a:xfrm>
            <a:off x="3098780" y="4483122"/>
            <a:ext cx="126980" cy="126980"/>
          </a:xfrm>
          <a:prstGeom prst="rect">
            <a:avLst/>
          </a:prstGeom>
        </p:spPr>
      </p:pic>
      <p:pic>
        <p:nvPicPr>
          <p:cNvPr id="13" name="Image 8" descr="ellipse"/>
          <p:cNvPicPr>
            <a:picLocks noChangeAspect="1"/>
          </p:cNvPicPr>
          <p:nvPr/>
        </p:nvPicPr>
        <p:blipFill>
          <a:blip r:embed="rId8"/>
          <a:srcRect/>
          <a:stretch/>
        </p:blipFill>
        <p:spPr>
          <a:xfrm>
            <a:off x="3009841" y="5105397"/>
            <a:ext cx="126980" cy="126980"/>
          </a:xfrm>
          <a:prstGeom prst="rect">
            <a:avLst/>
          </a:prstGeom>
        </p:spPr>
      </p:pic>
      <p:sp>
        <p:nvSpPr>
          <p:cNvPr id="14" name="Text 3"/>
          <p:cNvSpPr/>
          <p:nvPr/>
        </p:nvSpPr>
        <p:spPr>
          <a:xfrm>
            <a:off x="4368760" y="2768619"/>
            <a:ext cx="1714500" cy="314920"/>
          </a:xfrm>
          <a:prstGeom prst="roundRect">
            <a:avLst>
              <a:gd name="adj" fmla="val 50000"/>
            </a:avLst>
          </a:prstGeom>
          <a:solidFill>
            <a:srgbClr val="15171C"/>
          </a:solidFill>
          <a:ln/>
        </p:spPr>
        <p:txBody>
          <a:bodyPr wrap="none" lIns="68181" tIns="4681" rIns="17381" bIns="0" rtlCol="0" anchor="t">
            <a:normAutofit/>
          </a:bodyPr>
          <a:lstStyle/>
          <a:p>
            <a:pPr marL="0" indent="0" algn="l">
              <a:lnSpc>
                <a:spcPts val="1680"/>
              </a:lnSpc>
              <a:buNone/>
            </a:pPr>
            <a:r>
              <a:rPr lang="en-US" sz="1200" b="1" dirty="0">
                <a:solidFill>
                  <a:srgbClr val="F5F1EA"/>
                </a:solidFill>
                <a:latin typeface="Inter" pitchFamily="34" charset="0"/>
                <a:ea typeface="Inter" pitchFamily="34" charset="-122"/>
                <a:cs typeface="Inter" pitchFamily="34" charset="-120"/>
              </a:rPr>
              <a:t>ESP32 · Bluetooth</a:t>
            </a:r>
            <a:endParaRPr lang="en-US" sz="1200" dirty="0"/>
          </a:p>
        </p:txBody>
      </p:sp>
      <p:sp>
        <p:nvSpPr>
          <p:cNvPr id="15" name="Text 4"/>
          <p:cNvSpPr/>
          <p:nvPr/>
        </p:nvSpPr>
        <p:spPr>
          <a:xfrm>
            <a:off x="1511260" y="3568719"/>
            <a:ext cx="787360" cy="314920"/>
          </a:xfrm>
          <a:prstGeom prst="roundRect">
            <a:avLst>
              <a:gd name="adj" fmla="val 50000"/>
            </a:avLst>
          </a:prstGeom>
          <a:solidFill>
            <a:srgbClr val="15171C"/>
          </a:solidFill>
          <a:ln/>
        </p:spPr>
        <p:txBody>
          <a:bodyPr wrap="none" lIns="68181" tIns="4681" rIns="17381" bIns="0" rtlCol="0" anchor="t">
            <a:normAutofit/>
          </a:bodyPr>
          <a:lstStyle/>
          <a:p>
            <a:pPr marL="0" indent="0" algn="l">
              <a:lnSpc>
                <a:spcPts val="1680"/>
              </a:lnSpc>
              <a:buNone/>
            </a:pPr>
            <a:r>
              <a:rPr lang="en-US" sz="1200" b="1" dirty="0">
                <a:solidFill>
                  <a:srgbClr val="F5F1EA"/>
                </a:solidFill>
                <a:latin typeface="Inter" pitchFamily="34" charset="0"/>
                <a:ea typeface="Inter" pitchFamily="34" charset="-122"/>
                <a:cs typeface="Inter" pitchFamily="34" charset="-120"/>
              </a:rPr>
              <a:t>Button</a:t>
            </a:r>
            <a:endParaRPr lang="en-US" sz="1200" dirty="0"/>
          </a:p>
        </p:txBody>
      </p:sp>
      <p:sp>
        <p:nvSpPr>
          <p:cNvPr id="16" name="Text 5"/>
          <p:cNvSpPr/>
          <p:nvPr/>
        </p:nvSpPr>
        <p:spPr>
          <a:xfrm>
            <a:off x="965180" y="5600697"/>
            <a:ext cx="1396960" cy="314920"/>
          </a:xfrm>
          <a:prstGeom prst="roundRect">
            <a:avLst>
              <a:gd name="adj" fmla="val 50000"/>
            </a:avLst>
          </a:prstGeom>
          <a:solidFill>
            <a:srgbClr val="15171C"/>
          </a:solidFill>
          <a:ln/>
        </p:spPr>
        <p:txBody>
          <a:bodyPr wrap="none" lIns="68181" tIns="4681" rIns="17381" bIns="0" rtlCol="0" anchor="t">
            <a:normAutofit/>
          </a:bodyPr>
          <a:lstStyle/>
          <a:p>
            <a:pPr marL="0" indent="0" algn="l">
              <a:lnSpc>
                <a:spcPts val="1680"/>
              </a:lnSpc>
              <a:buNone/>
            </a:pPr>
            <a:r>
              <a:rPr lang="en-US" sz="1200" b="1" dirty="0">
                <a:solidFill>
                  <a:srgbClr val="F5F1EA"/>
                </a:solidFill>
                <a:latin typeface="Inter" pitchFamily="34" charset="0"/>
                <a:ea typeface="Inter" pitchFamily="34" charset="-122"/>
                <a:cs typeface="Inter" pitchFamily="34" charset="-120"/>
              </a:rPr>
              <a:t>Servo · haptic</a:t>
            </a:r>
            <a:endParaRPr lang="en-US" sz="1200" dirty="0"/>
          </a:p>
        </p:txBody>
      </p:sp>
      <p:sp>
        <p:nvSpPr>
          <p:cNvPr id="17" name="Text 6"/>
          <p:cNvSpPr/>
          <p:nvPr/>
        </p:nvSpPr>
        <p:spPr>
          <a:xfrm>
            <a:off x="7213581" y="3162359"/>
            <a:ext cx="355580" cy="355580"/>
          </a:xfrm>
          <a:custGeom>
            <a:avLst/>
            <a:gdLst/>
            <a:ahLst/>
            <a:cxnLst/>
            <a:rect l="l" t="t" r="r" b="b"/>
            <a:pathLst>
              <a:path w="355580" h="355580">
                <a:moveTo>
                  <a:pt x="177790" y="0"/>
                </a:moveTo>
                <a:lnTo>
                  <a:pt x="177790" y="0"/>
                </a:lnTo>
                <a:arcTo wR="177790" hR="177790" stAng="16200000" swAng="5400000"/>
                <a:lnTo>
                  <a:pt x="355580" y="177790"/>
                </a:lnTo>
                <a:arcTo wR="177790" hR="177790" stAng="0" swAng="5400000"/>
                <a:lnTo>
                  <a:pt x="177790" y="355580"/>
                </a:lnTo>
                <a:arcTo wR="177790" hR="177790" stAng="5400000" swAng="5400000"/>
                <a:lnTo>
                  <a:pt x="0" y="177790"/>
                </a:lnTo>
                <a:arcTo wR="177790" hR="177790" stAng="10800000" swAng="5400000"/>
                <a:close/>
              </a:path>
            </a:pathLst>
          </a:custGeom>
          <a:solidFill>
            <a:srgbClr val="15171C"/>
          </a:solidFill>
          <a:ln/>
        </p:spPr>
        <p:txBody>
          <a:bodyPr wrap="square" lIns="0" tIns="0" rIns="0" bIns="0" rtlCol="0" anchor="t">
            <a:normAutofit/>
          </a:bodyPr>
          <a:lstStyle/>
          <a:p>
            <a:pPr marL="0" indent="0" algn="ctr">
              <a:lnSpc>
                <a:spcPts val="2795"/>
              </a:lnSpc>
              <a:buNone/>
            </a:pPr>
            <a:r>
              <a:rPr lang="en-US" sz="1300" b="1" dirty="0">
                <a:solidFill>
                  <a:srgbClr val="F5F1EA"/>
                </a:solidFill>
                <a:latin typeface="Inter" pitchFamily="34" charset="0"/>
                <a:ea typeface="Inter" pitchFamily="34" charset="-122"/>
                <a:cs typeface="Inter" pitchFamily="34" charset="-120"/>
              </a:rPr>
              <a:t>1</a:t>
            </a:r>
            <a:endParaRPr lang="en-US" sz="1300" dirty="0"/>
          </a:p>
        </p:txBody>
      </p:sp>
      <p:sp>
        <p:nvSpPr>
          <p:cNvPr id="18" name="Text 7"/>
          <p:cNvSpPr/>
          <p:nvPr/>
        </p:nvSpPr>
        <p:spPr>
          <a:xfrm>
            <a:off x="7721560" y="3202958"/>
            <a:ext cx="376738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171C"/>
                </a:solidFill>
                <a:latin typeface="Inter" pitchFamily="34" charset="0"/>
                <a:ea typeface="Inter" pitchFamily="34" charset="-122"/>
                <a:cs typeface="Inter" pitchFamily="34" charset="-120"/>
              </a:rPr>
              <a:t>Click the button</a:t>
            </a:r>
            <a:endParaRPr lang="en-US" sz="1800" dirty="0"/>
          </a:p>
        </p:txBody>
      </p:sp>
      <p:pic>
        <p:nvPicPr>
          <p:cNvPr id="19" name="Image 9" descr="arrow-down"/>
          <p:cNvPicPr>
            <a:picLocks noChangeAspect="1"/>
          </p:cNvPicPr>
          <p:nvPr/>
        </p:nvPicPr>
        <p:blipFill>
          <a:blip r:embed="rId9"/>
          <a:srcRect/>
          <a:stretch/>
        </p:blipFill>
        <p:spPr>
          <a:xfrm>
            <a:off x="7213581" y="3594137"/>
            <a:ext cx="114300" cy="152400"/>
          </a:xfrm>
          <a:prstGeom prst="rect">
            <a:avLst/>
          </a:prstGeom>
        </p:spPr>
      </p:pic>
      <p:sp>
        <p:nvSpPr>
          <p:cNvPr id="20" name="Text 8"/>
          <p:cNvSpPr/>
          <p:nvPr/>
        </p:nvSpPr>
        <p:spPr>
          <a:xfrm>
            <a:off x="7213581" y="3822737"/>
            <a:ext cx="355580" cy="355580"/>
          </a:xfrm>
          <a:custGeom>
            <a:avLst/>
            <a:gdLst/>
            <a:ahLst/>
            <a:cxnLst/>
            <a:rect l="l" t="t" r="r" b="b"/>
            <a:pathLst>
              <a:path w="355580" h="355580">
                <a:moveTo>
                  <a:pt x="177790" y="0"/>
                </a:moveTo>
                <a:lnTo>
                  <a:pt x="177790" y="0"/>
                </a:lnTo>
                <a:arcTo wR="177790" hR="177790" stAng="16200000" swAng="5400000"/>
                <a:lnTo>
                  <a:pt x="355580" y="177790"/>
                </a:lnTo>
                <a:arcTo wR="177790" hR="177790" stAng="0" swAng="5400000"/>
                <a:lnTo>
                  <a:pt x="177790" y="355580"/>
                </a:lnTo>
                <a:arcTo wR="177790" hR="177790" stAng="5400000" swAng="5400000"/>
                <a:lnTo>
                  <a:pt x="0" y="177790"/>
                </a:lnTo>
                <a:arcTo wR="177790" hR="177790" stAng="10800000" swAng="5400000"/>
                <a:close/>
              </a:path>
            </a:pathLst>
          </a:custGeom>
          <a:solidFill>
            <a:srgbClr val="15171C"/>
          </a:solidFill>
          <a:ln/>
        </p:spPr>
        <p:txBody>
          <a:bodyPr wrap="square" lIns="0" tIns="0" rIns="0" bIns="0" rtlCol="0" anchor="t">
            <a:normAutofit/>
          </a:bodyPr>
          <a:lstStyle/>
          <a:p>
            <a:pPr marL="0" indent="0" algn="ctr">
              <a:lnSpc>
                <a:spcPts val="2795"/>
              </a:lnSpc>
              <a:buNone/>
            </a:pPr>
            <a:r>
              <a:rPr lang="en-US" sz="1300" b="1" dirty="0">
                <a:solidFill>
                  <a:srgbClr val="F5F1EA"/>
                </a:solidFill>
                <a:latin typeface="Inter" pitchFamily="34" charset="0"/>
                <a:ea typeface="Inter" pitchFamily="34" charset="-122"/>
                <a:cs typeface="Inter" pitchFamily="34" charset="-120"/>
              </a:rPr>
              <a:t>2</a:t>
            </a:r>
            <a:endParaRPr lang="en-US" sz="1300" dirty="0"/>
          </a:p>
        </p:txBody>
      </p:sp>
      <p:sp>
        <p:nvSpPr>
          <p:cNvPr id="21" name="Text 9"/>
          <p:cNvSpPr/>
          <p:nvPr/>
        </p:nvSpPr>
        <p:spPr>
          <a:xfrm>
            <a:off x="7721560" y="3863339"/>
            <a:ext cx="376738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171C"/>
                </a:solidFill>
                <a:latin typeface="Inter" pitchFamily="34" charset="0"/>
                <a:ea typeface="Inter" pitchFamily="34" charset="-122"/>
                <a:cs typeface="Inter" pitchFamily="34" charset="-120"/>
              </a:rPr>
              <a:t>Mic turns on</a:t>
            </a:r>
            <a:endParaRPr lang="en-US" sz="1800" dirty="0"/>
          </a:p>
        </p:txBody>
      </p:sp>
      <p:pic>
        <p:nvPicPr>
          <p:cNvPr id="22" name="Image 10" descr="arrow-down"/>
          <p:cNvPicPr>
            <a:picLocks noChangeAspect="1"/>
          </p:cNvPicPr>
          <p:nvPr/>
        </p:nvPicPr>
        <p:blipFill>
          <a:blip r:embed="rId9"/>
          <a:srcRect/>
          <a:stretch/>
        </p:blipFill>
        <p:spPr>
          <a:xfrm>
            <a:off x="7213581" y="4254522"/>
            <a:ext cx="114300" cy="152400"/>
          </a:xfrm>
          <a:prstGeom prst="rect">
            <a:avLst/>
          </a:prstGeom>
        </p:spPr>
      </p:pic>
      <p:sp>
        <p:nvSpPr>
          <p:cNvPr id="23" name="Text 10"/>
          <p:cNvSpPr/>
          <p:nvPr/>
        </p:nvSpPr>
        <p:spPr>
          <a:xfrm>
            <a:off x="7213581" y="4483122"/>
            <a:ext cx="355580" cy="355580"/>
          </a:xfrm>
          <a:custGeom>
            <a:avLst/>
            <a:gdLst/>
            <a:ahLst/>
            <a:cxnLst/>
            <a:rect l="l" t="t" r="r" b="b"/>
            <a:pathLst>
              <a:path w="355580" h="355580">
                <a:moveTo>
                  <a:pt x="177790" y="0"/>
                </a:moveTo>
                <a:lnTo>
                  <a:pt x="177790" y="0"/>
                </a:lnTo>
                <a:arcTo wR="177790" hR="177790" stAng="16200000" swAng="5400000"/>
                <a:lnTo>
                  <a:pt x="355580" y="177790"/>
                </a:lnTo>
                <a:arcTo wR="177790" hR="177790" stAng="0" swAng="5400000"/>
                <a:lnTo>
                  <a:pt x="177790" y="355580"/>
                </a:lnTo>
                <a:arcTo wR="177790" hR="177790" stAng="5400000" swAng="5400000"/>
                <a:lnTo>
                  <a:pt x="0" y="177790"/>
                </a:lnTo>
                <a:arcTo wR="177790" hR="177790" stAng="10800000" swAng="5400000"/>
                <a:close/>
              </a:path>
            </a:pathLst>
          </a:custGeom>
          <a:solidFill>
            <a:srgbClr val="15171C"/>
          </a:solidFill>
          <a:ln/>
        </p:spPr>
        <p:txBody>
          <a:bodyPr wrap="square" lIns="0" tIns="0" rIns="0" bIns="0" rtlCol="0" anchor="t">
            <a:normAutofit/>
          </a:bodyPr>
          <a:lstStyle/>
          <a:p>
            <a:pPr marL="0" indent="0" algn="ctr">
              <a:lnSpc>
                <a:spcPts val="2795"/>
              </a:lnSpc>
              <a:buNone/>
            </a:pPr>
            <a:r>
              <a:rPr lang="en-US" sz="1300" b="1" dirty="0">
                <a:solidFill>
                  <a:srgbClr val="F5F1EA"/>
                </a:solidFill>
                <a:latin typeface="Inter" pitchFamily="34" charset="0"/>
                <a:ea typeface="Inter" pitchFamily="34" charset="-122"/>
                <a:cs typeface="Inter" pitchFamily="34" charset="-120"/>
              </a:rPr>
              <a:t>3</a:t>
            </a:r>
            <a:endParaRPr lang="en-US" sz="1300" dirty="0"/>
          </a:p>
        </p:txBody>
      </p:sp>
      <p:sp>
        <p:nvSpPr>
          <p:cNvPr id="24" name="Text 11"/>
          <p:cNvSpPr/>
          <p:nvPr/>
        </p:nvSpPr>
        <p:spPr>
          <a:xfrm>
            <a:off x="7721560" y="4523721"/>
            <a:ext cx="376738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171C"/>
                </a:solidFill>
                <a:latin typeface="Inter" pitchFamily="34" charset="0"/>
                <a:ea typeface="Inter" pitchFamily="34" charset="-122"/>
                <a:cs typeface="Inter" pitchFamily="34" charset="-120"/>
              </a:rPr>
              <a:t>Query</a:t>
            </a:r>
            <a:endParaRPr lang="en-US" sz="1800" dirty="0"/>
          </a:p>
        </p:txBody>
      </p:sp>
      <p:pic>
        <p:nvPicPr>
          <p:cNvPr id="25" name="Image 11" descr="arrow-down"/>
          <p:cNvPicPr>
            <a:picLocks noChangeAspect="1"/>
          </p:cNvPicPr>
          <p:nvPr/>
        </p:nvPicPr>
        <p:blipFill>
          <a:blip r:embed="rId9"/>
          <a:srcRect/>
          <a:stretch/>
        </p:blipFill>
        <p:spPr>
          <a:xfrm>
            <a:off x="7213581" y="4914897"/>
            <a:ext cx="114300" cy="152400"/>
          </a:xfrm>
          <a:prstGeom prst="rect">
            <a:avLst/>
          </a:prstGeom>
        </p:spPr>
      </p:pic>
      <p:sp>
        <p:nvSpPr>
          <p:cNvPr id="26" name="Text 12"/>
          <p:cNvSpPr/>
          <p:nvPr/>
        </p:nvSpPr>
        <p:spPr>
          <a:xfrm>
            <a:off x="7213581" y="5143497"/>
            <a:ext cx="355580" cy="355580"/>
          </a:xfrm>
          <a:custGeom>
            <a:avLst/>
            <a:gdLst/>
            <a:ahLst/>
            <a:cxnLst/>
            <a:rect l="l" t="t" r="r" b="b"/>
            <a:pathLst>
              <a:path w="355580" h="355580">
                <a:moveTo>
                  <a:pt x="177790" y="0"/>
                </a:moveTo>
                <a:lnTo>
                  <a:pt x="177790" y="0"/>
                </a:lnTo>
                <a:arcTo wR="177790" hR="177790" stAng="16200000" swAng="5400000"/>
                <a:lnTo>
                  <a:pt x="355580" y="177790"/>
                </a:lnTo>
                <a:arcTo wR="177790" hR="177790" stAng="0" swAng="5400000"/>
                <a:lnTo>
                  <a:pt x="177790" y="355580"/>
                </a:lnTo>
                <a:arcTo wR="177790" hR="177790" stAng="5400000" swAng="5400000"/>
                <a:lnTo>
                  <a:pt x="0" y="177790"/>
                </a:lnTo>
                <a:arcTo wR="177790" hR="177790" stAng="10800000" swAng="5400000"/>
                <a:close/>
              </a:path>
            </a:pathLst>
          </a:custGeom>
          <a:solidFill>
            <a:srgbClr val="E07A3F"/>
          </a:solidFill>
          <a:ln/>
        </p:spPr>
        <p:txBody>
          <a:bodyPr wrap="square" lIns="0" tIns="0" rIns="0" bIns="0" rtlCol="0" anchor="t">
            <a:normAutofit/>
          </a:bodyPr>
          <a:lstStyle/>
          <a:p>
            <a:pPr marL="0" indent="0" algn="ctr">
              <a:lnSpc>
                <a:spcPts val="2795"/>
              </a:lnSpc>
              <a:buNone/>
            </a:pPr>
            <a:r>
              <a:rPr lang="en-US" sz="1300" b="1" dirty="0">
                <a:solidFill>
                  <a:srgbClr val="15171C"/>
                </a:solidFill>
                <a:latin typeface="Inter" pitchFamily="34" charset="0"/>
                <a:ea typeface="Inter" pitchFamily="34" charset="-122"/>
                <a:cs typeface="Inter" pitchFamily="34" charset="-120"/>
              </a:rPr>
              <a:t>4</a:t>
            </a:r>
            <a:endParaRPr lang="en-US" sz="1300" dirty="0"/>
          </a:p>
        </p:txBody>
      </p:sp>
      <p:sp>
        <p:nvSpPr>
          <p:cNvPr id="27" name="Text 13"/>
          <p:cNvSpPr/>
          <p:nvPr/>
        </p:nvSpPr>
        <p:spPr>
          <a:xfrm>
            <a:off x="7721560" y="5184102"/>
            <a:ext cx="376738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171C"/>
                </a:solidFill>
                <a:latin typeface="Inter" pitchFamily="34" charset="0"/>
                <a:ea typeface="Inter" pitchFamily="34" charset="-122"/>
                <a:cs typeface="Inter" pitchFamily="34" charset="-120"/>
              </a:rPr>
              <a:t>Haptic feedback</a:t>
            </a:r>
            <a:endParaRPr lang="en-US" sz="1800" dirty="0"/>
          </a:p>
        </p:txBody>
      </p:sp>
    </p:spTree>
  </p:cSld>
  <p:clrMapOvr>
    <a:masterClrMapping/>
  </p:clrMapOvr>
</p:sld>
</file>

<file path=ppt/theme/theme1.xml><?xml version="1.0" encoding="utf-8"?>
<a:theme xmlns:a="http://schemas.openxmlformats.org/drawingml/2006/main" name="Recall">
  <a:themeElements>
    <a:clrScheme name="Recall">
      <a:dk1>
        <a:srgbClr val="15171C"/>
      </a:dk1>
      <a:lt1>
        <a:srgbClr val="E07A3F"/>
      </a:lt1>
      <a:dk2>
        <a:srgbClr val="292120"/>
      </a:dk2>
      <a:lt2>
        <a:srgbClr val="AD6136"/>
      </a:lt2>
      <a:accent1>
        <a:srgbClr val="B8551F"/>
      </a:accent1>
      <a:accent2>
        <a:srgbClr val="7A3A14"/>
      </a:accent2>
      <a:accent3>
        <a:srgbClr val="EBE5DA"/>
      </a:accent3>
      <a:accent4>
        <a:srgbClr val="B9BCC4"/>
      </a:accent4>
      <a:accent5>
        <a:srgbClr val="6B6F78"/>
      </a:accent5>
      <a:accent6>
        <a:srgbClr val="D9D3C8"/>
      </a:accent6>
      <a:hlink>
        <a:srgbClr val="0563C1"/>
      </a:hlink>
      <a:folHlink>
        <a:srgbClr val="954F72"/>
      </a:folHlink>
    </a:clrScheme>
    <a:fontScheme name="Recall">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320</TotalTime>
  <Words>1065</Words>
  <Application>Microsoft Macintosh PowerPoint</Application>
  <PresentationFormat>Widescreen</PresentationFormat>
  <Paragraphs>88</Paragraphs>
  <Slides>8</Slides>
  <Notes>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Fraunces</vt:lpstr>
      <vt:lpstr>Courier New</vt:lpstr>
      <vt:lpstr>Inter</vt:lpstr>
      <vt:lpstr>Arial</vt:lpstr>
      <vt:lpstr>Recall</vt:lpstr>
      <vt:lpstr>Recall</vt:lpstr>
      <vt:lpstr>PowerPoint Presentation</vt:lpstr>
      <vt:lpstr>From a question to a direction</vt:lpstr>
      <vt:lpstr>DEMO</vt:lpstr>
      <vt:lpstr>What sets us apart</vt:lpstr>
      <vt:lpstr>The room learns its own depth</vt:lpstr>
      <vt:lpstr>It finds each object and remembers where it is</vt:lpstr>
      <vt:lpstr>Haptic guidance helps you Recall.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Recall</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Fraunces
Copyright 2018 The Fraunces Project Authors (https://github.com/undercasetype/Fraunces)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alexander chin</cp:lastModifiedBy>
  <cp:revision>3</cp:revision>
  <dcterms:created xsi:type="dcterms:W3CDTF">2026-10-25T11:16:37Z</dcterms:created>
  <dcterms:modified xsi:type="dcterms:W3CDTF">2026-10-25T16:37:49Z</dcterms:modified>
</cp:coreProperties>
</file>